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6"/>
  </p:notesMasterIdLst>
  <p:sldIdLst>
    <p:sldId id="256" r:id="rId2"/>
    <p:sldId id="259" r:id="rId3"/>
    <p:sldId id="261" r:id="rId4"/>
    <p:sldId id="274" r:id="rId5"/>
    <p:sldId id="260" r:id="rId6"/>
    <p:sldId id="263" r:id="rId7"/>
    <p:sldId id="266" r:id="rId8"/>
    <p:sldId id="267" r:id="rId9"/>
    <p:sldId id="287" r:id="rId10"/>
    <p:sldId id="270" r:id="rId11"/>
    <p:sldId id="272" r:id="rId12"/>
    <p:sldId id="286" r:id="rId13"/>
    <p:sldId id="268" r:id="rId14"/>
    <p:sldId id="285" r:id="rId15"/>
  </p:sldIdLst>
  <p:sldSz cx="9144000" cy="5143500" type="screen16x9"/>
  <p:notesSz cx="6858000" cy="9144000"/>
  <p:embeddedFontLst>
    <p:embeddedFont>
      <p:font typeface="Archivo" panose="020B0604020202020204" charset="0"/>
      <p:regular r:id="rId17"/>
      <p:bold r:id="rId18"/>
      <p:italic r:id="rId19"/>
      <p:boldItalic r:id="rId20"/>
    </p:embeddedFont>
    <p:embeddedFont>
      <p:font typeface="Archivo Black" panose="020B0604020202020204" charset="0"/>
      <p:bold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59EDED-BA40-4833-9B41-7B50B9413A16}">
  <a:tblStyle styleId="{4A59EDED-BA40-4833-9B41-7B50B9413A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E5A53D-7A4C-4195-BBD0-AA41ED30D2D8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78B65A29-8125-4D59-A3EB-4631C6F95B13}">
      <dgm:prSet phldrT="[Text]"/>
      <dgm:spPr/>
      <dgm:t>
        <a:bodyPr/>
        <a:lstStyle/>
        <a:p>
          <a:r>
            <a:rPr lang="en-US" dirty="0">
              <a:latin typeface="Archivo" panose="020B0604020202020204" charset="0"/>
              <a:cs typeface="Archivo" panose="020B0604020202020204" charset="0"/>
            </a:rPr>
            <a:t>Output Gene Candidates</a:t>
          </a:r>
          <a:endParaRPr lang="en-CA" dirty="0">
            <a:latin typeface="Archivo" panose="020B0604020202020204" charset="0"/>
            <a:cs typeface="Archivo" panose="020B0604020202020204" charset="0"/>
          </a:endParaRPr>
        </a:p>
      </dgm:t>
    </dgm:pt>
    <dgm:pt modelId="{94D064F1-722B-4637-A4A1-9A267D68CDE6}" type="parTrans" cxnId="{1F768AD1-8436-495A-9C2D-B587B340F440}">
      <dgm:prSet/>
      <dgm:spPr/>
      <dgm:t>
        <a:bodyPr/>
        <a:lstStyle/>
        <a:p>
          <a:endParaRPr lang="en-CA"/>
        </a:p>
      </dgm:t>
    </dgm:pt>
    <dgm:pt modelId="{119FF0D4-D053-4456-AD33-F8C01452B03F}" type="sibTrans" cxnId="{1F768AD1-8436-495A-9C2D-B587B340F440}">
      <dgm:prSet/>
      <dgm:spPr/>
      <dgm:t>
        <a:bodyPr/>
        <a:lstStyle/>
        <a:p>
          <a:endParaRPr lang="en-CA"/>
        </a:p>
      </dgm:t>
    </dgm:pt>
    <dgm:pt modelId="{BB1E2476-C80F-4E70-B1FC-D829FA0238DE}">
      <dgm:prSet phldrT="[Text]"/>
      <dgm:spPr/>
      <dgm:t>
        <a:bodyPr/>
        <a:lstStyle/>
        <a:p>
          <a:r>
            <a:rPr lang="en-US" dirty="0">
              <a:latin typeface="Archivo" panose="020B0604020202020204" charset="0"/>
              <a:cs typeface="Archivo" panose="020B0604020202020204" charset="0"/>
            </a:rPr>
            <a:t>SCZ </a:t>
          </a:r>
          <a:r>
            <a:rPr lang="en-US" dirty="0">
              <a:latin typeface="Archivo" panose="020B0604020202020204" charset="0"/>
              <a:cs typeface="Archivo" panose="020B0604020202020204" charset="0"/>
              <a:sym typeface="Wingdings" panose="05000000000000000000" pitchFamily="2" charset="2"/>
            </a:rPr>
            <a:t>ASD</a:t>
          </a:r>
          <a:endParaRPr lang="en-CA" dirty="0">
            <a:latin typeface="Archivo" panose="020B0604020202020204" charset="0"/>
            <a:cs typeface="Archivo" panose="020B0604020202020204" charset="0"/>
          </a:endParaRPr>
        </a:p>
      </dgm:t>
    </dgm:pt>
    <dgm:pt modelId="{1479346E-91D2-409A-9FB0-80DF04DF4216}" type="sibTrans" cxnId="{79EF76E3-CC76-429A-94B2-F4020A8575AD}">
      <dgm:prSet/>
      <dgm:spPr/>
      <dgm:t>
        <a:bodyPr/>
        <a:lstStyle/>
        <a:p>
          <a:endParaRPr lang="en-CA"/>
        </a:p>
      </dgm:t>
    </dgm:pt>
    <dgm:pt modelId="{9CEF9AD1-C3C0-4C27-A223-B2C81BF692B6}" type="parTrans" cxnId="{79EF76E3-CC76-429A-94B2-F4020A8575AD}">
      <dgm:prSet/>
      <dgm:spPr/>
      <dgm:t>
        <a:bodyPr/>
        <a:lstStyle/>
        <a:p>
          <a:endParaRPr lang="en-CA"/>
        </a:p>
      </dgm:t>
    </dgm:pt>
    <dgm:pt modelId="{F74AF499-FC61-4674-BCB0-B1CE427A9E95}">
      <dgm:prSet phldrT="[Text]"/>
      <dgm:spPr/>
      <dgm:t>
        <a:bodyPr/>
        <a:lstStyle/>
        <a:p>
          <a:r>
            <a:rPr lang="en-US" dirty="0">
              <a:latin typeface="Archivo" panose="020B0604020202020204" charset="0"/>
              <a:cs typeface="Archivo" panose="020B0604020202020204" charset="0"/>
            </a:rPr>
            <a:t>SCZ </a:t>
          </a:r>
          <a:r>
            <a:rPr lang="en-US" dirty="0">
              <a:latin typeface="Archivo" panose="020B0604020202020204" charset="0"/>
              <a:cs typeface="Archivo" panose="020B0604020202020204" charset="0"/>
              <a:sym typeface="Wingdings" panose="05000000000000000000" pitchFamily="2" charset="2"/>
            </a:rPr>
            <a:t>Controls</a:t>
          </a:r>
          <a:endParaRPr lang="en-CA" dirty="0">
            <a:latin typeface="Archivo" panose="020B0604020202020204" charset="0"/>
            <a:cs typeface="Archivo" panose="020B0604020202020204" charset="0"/>
          </a:endParaRPr>
        </a:p>
      </dgm:t>
    </dgm:pt>
    <dgm:pt modelId="{B7B4AD78-3488-440E-AFEC-88B364269B5E}" type="sibTrans" cxnId="{E3EE27F8-50F2-469C-BAC2-C14CF03E7281}">
      <dgm:prSet/>
      <dgm:spPr/>
      <dgm:t>
        <a:bodyPr/>
        <a:lstStyle/>
        <a:p>
          <a:endParaRPr lang="en-CA"/>
        </a:p>
      </dgm:t>
    </dgm:pt>
    <dgm:pt modelId="{F99A0383-F901-49F6-B4FD-9FEBFAEB2A85}" type="parTrans" cxnId="{E3EE27F8-50F2-469C-BAC2-C14CF03E7281}">
      <dgm:prSet/>
      <dgm:spPr/>
      <dgm:t>
        <a:bodyPr/>
        <a:lstStyle/>
        <a:p>
          <a:endParaRPr lang="en-CA"/>
        </a:p>
      </dgm:t>
    </dgm:pt>
    <dgm:pt modelId="{07D4B4A5-CA43-48D5-94E1-0A39E65A1748}">
      <dgm:prSet phldrT="[Text]"/>
      <dgm:spPr/>
      <dgm:t>
        <a:bodyPr/>
        <a:lstStyle/>
        <a:p>
          <a:r>
            <a:rPr lang="en-US" dirty="0">
              <a:latin typeface="Archivo" panose="020B0604020202020204" charset="0"/>
              <a:cs typeface="Archivo" panose="020B0604020202020204" charset="0"/>
            </a:rPr>
            <a:t>ASD </a:t>
          </a:r>
          <a:r>
            <a:rPr lang="en-US" dirty="0">
              <a:latin typeface="Archivo" panose="020B0604020202020204" charset="0"/>
              <a:cs typeface="Archivo" panose="020B0604020202020204" charset="0"/>
              <a:sym typeface="Wingdings" panose="05000000000000000000" pitchFamily="2" charset="2"/>
            </a:rPr>
            <a:t>Controls</a:t>
          </a:r>
          <a:endParaRPr lang="en-CA" dirty="0">
            <a:latin typeface="Archivo" panose="020B0604020202020204" charset="0"/>
            <a:cs typeface="Archivo" panose="020B0604020202020204" charset="0"/>
          </a:endParaRPr>
        </a:p>
      </dgm:t>
    </dgm:pt>
    <dgm:pt modelId="{A8DD30E9-F4D6-4566-82B5-A06A7F1B5351}" type="sibTrans" cxnId="{35FCDDC9-800C-4BA0-838B-04DF06811148}">
      <dgm:prSet/>
      <dgm:spPr/>
      <dgm:t>
        <a:bodyPr/>
        <a:lstStyle/>
        <a:p>
          <a:endParaRPr lang="en-CA"/>
        </a:p>
      </dgm:t>
    </dgm:pt>
    <dgm:pt modelId="{F7905DDF-32F1-4247-ADF1-57ED64D6EA3C}" type="parTrans" cxnId="{35FCDDC9-800C-4BA0-838B-04DF06811148}">
      <dgm:prSet/>
      <dgm:spPr/>
      <dgm:t>
        <a:bodyPr/>
        <a:lstStyle/>
        <a:p>
          <a:endParaRPr lang="en-CA"/>
        </a:p>
      </dgm:t>
    </dgm:pt>
    <dgm:pt modelId="{E42B01B9-607B-4708-9057-B68433826CED}" type="pres">
      <dgm:prSet presAssocID="{D8E5A53D-7A4C-4195-BBD0-AA41ED30D2D8}" presName="diagram" presStyleCnt="0">
        <dgm:presLayoutVars>
          <dgm:chPref val="1"/>
          <dgm:dir val="rev"/>
          <dgm:animOne val="branch"/>
          <dgm:animLvl val="lvl"/>
          <dgm:resizeHandles val="exact"/>
        </dgm:presLayoutVars>
      </dgm:prSet>
      <dgm:spPr/>
    </dgm:pt>
    <dgm:pt modelId="{283FDCE5-04C9-4D0E-BD95-9050752B132D}" type="pres">
      <dgm:prSet presAssocID="{78B65A29-8125-4D59-A3EB-4631C6F95B13}" presName="root1" presStyleCnt="0"/>
      <dgm:spPr/>
    </dgm:pt>
    <dgm:pt modelId="{147ECEAB-4590-413F-A346-8CE4A36ACE37}" type="pres">
      <dgm:prSet presAssocID="{78B65A29-8125-4D59-A3EB-4631C6F95B13}" presName="LevelOneTextNode" presStyleLbl="node0" presStyleIdx="0" presStyleCnt="1">
        <dgm:presLayoutVars>
          <dgm:chPref val="3"/>
        </dgm:presLayoutVars>
      </dgm:prSet>
      <dgm:spPr/>
    </dgm:pt>
    <dgm:pt modelId="{ED662F03-B827-449F-A87B-453AAC226514}" type="pres">
      <dgm:prSet presAssocID="{78B65A29-8125-4D59-A3EB-4631C6F95B13}" presName="level2hierChild" presStyleCnt="0"/>
      <dgm:spPr/>
    </dgm:pt>
    <dgm:pt modelId="{7858B6F1-4DDA-41B9-8EDD-BADD145601DA}" type="pres">
      <dgm:prSet presAssocID="{9CEF9AD1-C3C0-4C27-A223-B2C81BF692B6}" presName="conn2-1" presStyleLbl="parChTrans1D2" presStyleIdx="0" presStyleCnt="1"/>
      <dgm:spPr/>
    </dgm:pt>
    <dgm:pt modelId="{9C8FE1CF-AC97-40C1-B9BC-6712B8E170F8}" type="pres">
      <dgm:prSet presAssocID="{9CEF9AD1-C3C0-4C27-A223-B2C81BF692B6}" presName="connTx" presStyleLbl="parChTrans1D2" presStyleIdx="0" presStyleCnt="1"/>
      <dgm:spPr/>
    </dgm:pt>
    <dgm:pt modelId="{C29104EB-00C2-4A2A-9BB0-A5B47A3CCADA}" type="pres">
      <dgm:prSet presAssocID="{BB1E2476-C80F-4E70-B1FC-D829FA0238DE}" presName="root2" presStyleCnt="0"/>
      <dgm:spPr/>
    </dgm:pt>
    <dgm:pt modelId="{B160867C-3472-49F9-9488-986032C3A5DA}" type="pres">
      <dgm:prSet presAssocID="{BB1E2476-C80F-4E70-B1FC-D829FA0238DE}" presName="LevelTwoTextNode" presStyleLbl="node2" presStyleIdx="0" presStyleCnt="1">
        <dgm:presLayoutVars>
          <dgm:chPref val="3"/>
        </dgm:presLayoutVars>
      </dgm:prSet>
      <dgm:spPr/>
    </dgm:pt>
    <dgm:pt modelId="{9FAF234E-E18F-4129-91A0-93CF9DC408D1}" type="pres">
      <dgm:prSet presAssocID="{BB1E2476-C80F-4E70-B1FC-D829FA0238DE}" presName="level3hierChild" presStyleCnt="0"/>
      <dgm:spPr/>
    </dgm:pt>
    <dgm:pt modelId="{7FB80390-2656-44AE-A755-FCE31C6917AA}" type="pres">
      <dgm:prSet presAssocID="{F99A0383-F901-49F6-B4FD-9FEBFAEB2A85}" presName="conn2-1" presStyleLbl="parChTrans1D3" presStyleIdx="0" presStyleCnt="2"/>
      <dgm:spPr/>
    </dgm:pt>
    <dgm:pt modelId="{8AEECCF1-91EF-4B01-98F2-F9DE6D50422E}" type="pres">
      <dgm:prSet presAssocID="{F99A0383-F901-49F6-B4FD-9FEBFAEB2A85}" presName="connTx" presStyleLbl="parChTrans1D3" presStyleIdx="0" presStyleCnt="2"/>
      <dgm:spPr/>
    </dgm:pt>
    <dgm:pt modelId="{517A35C6-D9A0-487F-AC08-DE1E9DF46074}" type="pres">
      <dgm:prSet presAssocID="{F74AF499-FC61-4674-BCB0-B1CE427A9E95}" presName="root2" presStyleCnt="0"/>
      <dgm:spPr/>
    </dgm:pt>
    <dgm:pt modelId="{C2A36AFC-F42A-46A7-9054-A3CA0D387A01}" type="pres">
      <dgm:prSet presAssocID="{F74AF499-FC61-4674-BCB0-B1CE427A9E95}" presName="LevelTwoTextNode" presStyleLbl="node3" presStyleIdx="0" presStyleCnt="2">
        <dgm:presLayoutVars>
          <dgm:chPref val="3"/>
        </dgm:presLayoutVars>
      </dgm:prSet>
      <dgm:spPr/>
    </dgm:pt>
    <dgm:pt modelId="{2554B013-BFB6-43A6-9EA9-2BFBB789DA62}" type="pres">
      <dgm:prSet presAssocID="{F74AF499-FC61-4674-BCB0-B1CE427A9E95}" presName="level3hierChild" presStyleCnt="0"/>
      <dgm:spPr/>
    </dgm:pt>
    <dgm:pt modelId="{8921FE5D-9D16-437A-985F-F054EB91614F}" type="pres">
      <dgm:prSet presAssocID="{F7905DDF-32F1-4247-ADF1-57ED64D6EA3C}" presName="conn2-1" presStyleLbl="parChTrans1D3" presStyleIdx="1" presStyleCnt="2"/>
      <dgm:spPr/>
    </dgm:pt>
    <dgm:pt modelId="{974E2799-01CA-4B6E-AF5E-A1005144B3D2}" type="pres">
      <dgm:prSet presAssocID="{F7905DDF-32F1-4247-ADF1-57ED64D6EA3C}" presName="connTx" presStyleLbl="parChTrans1D3" presStyleIdx="1" presStyleCnt="2"/>
      <dgm:spPr/>
    </dgm:pt>
    <dgm:pt modelId="{72A9DC8B-5FDA-45BE-9F2F-6DFF555CE7D1}" type="pres">
      <dgm:prSet presAssocID="{07D4B4A5-CA43-48D5-94E1-0A39E65A1748}" presName="root2" presStyleCnt="0"/>
      <dgm:spPr/>
    </dgm:pt>
    <dgm:pt modelId="{0DEDBEBD-9942-4589-BC43-E81F02D22F06}" type="pres">
      <dgm:prSet presAssocID="{07D4B4A5-CA43-48D5-94E1-0A39E65A1748}" presName="LevelTwoTextNode" presStyleLbl="node3" presStyleIdx="1" presStyleCnt="2">
        <dgm:presLayoutVars>
          <dgm:chPref val="3"/>
        </dgm:presLayoutVars>
      </dgm:prSet>
      <dgm:spPr/>
    </dgm:pt>
    <dgm:pt modelId="{1D11741F-9795-4F69-A8D5-E86AA6513ACE}" type="pres">
      <dgm:prSet presAssocID="{07D4B4A5-CA43-48D5-94E1-0A39E65A1748}" presName="level3hierChild" presStyleCnt="0"/>
      <dgm:spPr/>
    </dgm:pt>
  </dgm:ptLst>
  <dgm:cxnLst>
    <dgm:cxn modelId="{5E95A60F-B091-4506-8B38-641355C3C759}" type="presOf" srcId="{BB1E2476-C80F-4E70-B1FC-D829FA0238DE}" destId="{B160867C-3472-49F9-9488-986032C3A5DA}" srcOrd="0" destOrd="0" presId="urn:microsoft.com/office/officeart/2005/8/layout/hierarchy2"/>
    <dgm:cxn modelId="{C8CBDB3B-FCDA-4A34-9C05-DEC5067C015A}" type="presOf" srcId="{F7905DDF-32F1-4247-ADF1-57ED64D6EA3C}" destId="{8921FE5D-9D16-437A-985F-F054EB91614F}" srcOrd="0" destOrd="0" presId="urn:microsoft.com/office/officeart/2005/8/layout/hierarchy2"/>
    <dgm:cxn modelId="{3582396C-CA2F-4047-95D9-23892BC0F6C1}" type="presOf" srcId="{07D4B4A5-CA43-48D5-94E1-0A39E65A1748}" destId="{0DEDBEBD-9942-4589-BC43-E81F02D22F06}" srcOrd="0" destOrd="0" presId="urn:microsoft.com/office/officeart/2005/8/layout/hierarchy2"/>
    <dgm:cxn modelId="{FDB8417F-45EE-40BE-B7E9-50401AD6E6CE}" type="presOf" srcId="{F7905DDF-32F1-4247-ADF1-57ED64D6EA3C}" destId="{974E2799-01CA-4B6E-AF5E-A1005144B3D2}" srcOrd="1" destOrd="0" presId="urn:microsoft.com/office/officeart/2005/8/layout/hierarchy2"/>
    <dgm:cxn modelId="{CD9C1080-345F-43B8-B0AC-0EF406E1B4C4}" type="presOf" srcId="{9CEF9AD1-C3C0-4C27-A223-B2C81BF692B6}" destId="{7858B6F1-4DDA-41B9-8EDD-BADD145601DA}" srcOrd="0" destOrd="0" presId="urn:microsoft.com/office/officeart/2005/8/layout/hierarchy2"/>
    <dgm:cxn modelId="{8A27D183-13FD-48C2-BA1F-03B88432C1DB}" type="presOf" srcId="{F74AF499-FC61-4674-BCB0-B1CE427A9E95}" destId="{C2A36AFC-F42A-46A7-9054-A3CA0D387A01}" srcOrd="0" destOrd="0" presId="urn:microsoft.com/office/officeart/2005/8/layout/hierarchy2"/>
    <dgm:cxn modelId="{D3CE9087-230E-4145-9FBD-2D5123024487}" type="presOf" srcId="{F99A0383-F901-49F6-B4FD-9FEBFAEB2A85}" destId="{7FB80390-2656-44AE-A755-FCE31C6917AA}" srcOrd="0" destOrd="0" presId="urn:microsoft.com/office/officeart/2005/8/layout/hierarchy2"/>
    <dgm:cxn modelId="{B7C78C95-6B35-4F32-89D9-75D1601598A4}" type="presOf" srcId="{78B65A29-8125-4D59-A3EB-4631C6F95B13}" destId="{147ECEAB-4590-413F-A346-8CE4A36ACE37}" srcOrd="0" destOrd="0" presId="urn:microsoft.com/office/officeart/2005/8/layout/hierarchy2"/>
    <dgm:cxn modelId="{859D7B9F-91C6-4EEB-B57D-AE0983B820BA}" type="presOf" srcId="{D8E5A53D-7A4C-4195-BBD0-AA41ED30D2D8}" destId="{E42B01B9-607B-4708-9057-B68433826CED}" srcOrd="0" destOrd="0" presId="urn:microsoft.com/office/officeart/2005/8/layout/hierarchy2"/>
    <dgm:cxn modelId="{C8E444C8-D604-4312-8673-13469D3DBEA5}" type="presOf" srcId="{9CEF9AD1-C3C0-4C27-A223-B2C81BF692B6}" destId="{9C8FE1CF-AC97-40C1-B9BC-6712B8E170F8}" srcOrd="1" destOrd="0" presId="urn:microsoft.com/office/officeart/2005/8/layout/hierarchy2"/>
    <dgm:cxn modelId="{35FCDDC9-800C-4BA0-838B-04DF06811148}" srcId="{BB1E2476-C80F-4E70-B1FC-D829FA0238DE}" destId="{07D4B4A5-CA43-48D5-94E1-0A39E65A1748}" srcOrd="1" destOrd="0" parTransId="{F7905DDF-32F1-4247-ADF1-57ED64D6EA3C}" sibTransId="{A8DD30E9-F4D6-4566-82B5-A06A7F1B5351}"/>
    <dgm:cxn modelId="{1F768AD1-8436-495A-9C2D-B587B340F440}" srcId="{D8E5A53D-7A4C-4195-BBD0-AA41ED30D2D8}" destId="{78B65A29-8125-4D59-A3EB-4631C6F95B13}" srcOrd="0" destOrd="0" parTransId="{94D064F1-722B-4637-A4A1-9A267D68CDE6}" sibTransId="{119FF0D4-D053-4456-AD33-F8C01452B03F}"/>
    <dgm:cxn modelId="{79EF76E3-CC76-429A-94B2-F4020A8575AD}" srcId="{78B65A29-8125-4D59-A3EB-4631C6F95B13}" destId="{BB1E2476-C80F-4E70-B1FC-D829FA0238DE}" srcOrd="0" destOrd="0" parTransId="{9CEF9AD1-C3C0-4C27-A223-B2C81BF692B6}" sibTransId="{1479346E-91D2-409A-9FB0-80DF04DF4216}"/>
    <dgm:cxn modelId="{586CE7E6-5F08-4441-9B8D-4B9C5C19AB06}" type="presOf" srcId="{F99A0383-F901-49F6-B4FD-9FEBFAEB2A85}" destId="{8AEECCF1-91EF-4B01-98F2-F9DE6D50422E}" srcOrd="1" destOrd="0" presId="urn:microsoft.com/office/officeart/2005/8/layout/hierarchy2"/>
    <dgm:cxn modelId="{E3EE27F8-50F2-469C-BAC2-C14CF03E7281}" srcId="{BB1E2476-C80F-4E70-B1FC-D829FA0238DE}" destId="{F74AF499-FC61-4674-BCB0-B1CE427A9E95}" srcOrd="0" destOrd="0" parTransId="{F99A0383-F901-49F6-B4FD-9FEBFAEB2A85}" sibTransId="{B7B4AD78-3488-440E-AFEC-88B364269B5E}"/>
    <dgm:cxn modelId="{1E00620D-7728-435C-9EFA-1E5B2DBE81A4}" type="presParOf" srcId="{E42B01B9-607B-4708-9057-B68433826CED}" destId="{283FDCE5-04C9-4D0E-BD95-9050752B132D}" srcOrd="0" destOrd="0" presId="urn:microsoft.com/office/officeart/2005/8/layout/hierarchy2"/>
    <dgm:cxn modelId="{8F11100A-DC3A-485E-A433-10C62E326E37}" type="presParOf" srcId="{283FDCE5-04C9-4D0E-BD95-9050752B132D}" destId="{147ECEAB-4590-413F-A346-8CE4A36ACE37}" srcOrd="0" destOrd="0" presId="urn:microsoft.com/office/officeart/2005/8/layout/hierarchy2"/>
    <dgm:cxn modelId="{D4C0A8C5-A422-4E55-9EC2-001893AD26C6}" type="presParOf" srcId="{283FDCE5-04C9-4D0E-BD95-9050752B132D}" destId="{ED662F03-B827-449F-A87B-453AAC226514}" srcOrd="1" destOrd="0" presId="urn:microsoft.com/office/officeart/2005/8/layout/hierarchy2"/>
    <dgm:cxn modelId="{4B0E23FE-D241-48AA-9CD5-430FB1C2A396}" type="presParOf" srcId="{ED662F03-B827-449F-A87B-453AAC226514}" destId="{7858B6F1-4DDA-41B9-8EDD-BADD145601DA}" srcOrd="0" destOrd="0" presId="urn:microsoft.com/office/officeart/2005/8/layout/hierarchy2"/>
    <dgm:cxn modelId="{3909158E-5E97-4030-87AA-64AFE0A7D601}" type="presParOf" srcId="{7858B6F1-4DDA-41B9-8EDD-BADD145601DA}" destId="{9C8FE1CF-AC97-40C1-B9BC-6712B8E170F8}" srcOrd="0" destOrd="0" presId="urn:microsoft.com/office/officeart/2005/8/layout/hierarchy2"/>
    <dgm:cxn modelId="{ED608870-B3CD-41B9-95C1-97C03B7EAD6E}" type="presParOf" srcId="{ED662F03-B827-449F-A87B-453AAC226514}" destId="{C29104EB-00C2-4A2A-9BB0-A5B47A3CCADA}" srcOrd="1" destOrd="0" presId="urn:microsoft.com/office/officeart/2005/8/layout/hierarchy2"/>
    <dgm:cxn modelId="{2FCFBD4B-9753-4D3B-B277-0987CAA69EAB}" type="presParOf" srcId="{C29104EB-00C2-4A2A-9BB0-A5B47A3CCADA}" destId="{B160867C-3472-49F9-9488-986032C3A5DA}" srcOrd="0" destOrd="0" presId="urn:microsoft.com/office/officeart/2005/8/layout/hierarchy2"/>
    <dgm:cxn modelId="{E3B1AC5A-3EC2-4600-8254-98A1B0C20A7A}" type="presParOf" srcId="{C29104EB-00C2-4A2A-9BB0-A5B47A3CCADA}" destId="{9FAF234E-E18F-4129-91A0-93CF9DC408D1}" srcOrd="1" destOrd="0" presId="urn:microsoft.com/office/officeart/2005/8/layout/hierarchy2"/>
    <dgm:cxn modelId="{EFCFA53E-8757-4148-999B-DE2B3A5E1D0C}" type="presParOf" srcId="{9FAF234E-E18F-4129-91A0-93CF9DC408D1}" destId="{7FB80390-2656-44AE-A755-FCE31C6917AA}" srcOrd="0" destOrd="0" presId="urn:microsoft.com/office/officeart/2005/8/layout/hierarchy2"/>
    <dgm:cxn modelId="{539CE528-7383-48C8-B8FA-3891E545C952}" type="presParOf" srcId="{7FB80390-2656-44AE-A755-FCE31C6917AA}" destId="{8AEECCF1-91EF-4B01-98F2-F9DE6D50422E}" srcOrd="0" destOrd="0" presId="urn:microsoft.com/office/officeart/2005/8/layout/hierarchy2"/>
    <dgm:cxn modelId="{C827239D-DCA6-42F6-A06C-D9A45B809DE2}" type="presParOf" srcId="{9FAF234E-E18F-4129-91A0-93CF9DC408D1}" destId="{517A35C6-D9A0-487F-AC08-DE1E9DF46074}" srcOrd="1" destOrd="0" presId="urn:microsoft.com/office/officeart/2005/8/layout/hierarchy2"/>
    <dgm:cxn modelId="{65B629E7-EB6E-4C6C-B7B2-ACE15204766B}" type="presParOf" srcId="{517A35C6-D9A0-487F-AC08-DE1E9DF46074}" destId="{C2A36AFC-F42A-46A7-9054-A3CA0D387A01}" srcOrd="0" destOrd="0" presId="urn:microsoft.com/office/officeart/2005/8/layout/hierarchy2"/>
    <dgm:cxn modelId="{2BF71FB0-1413-4BCB-AEA5-E24D63C4FBEA}" type="presParOf" srcId="{517A35C6-D9A0-487F-AC08-DE1E9DF46074}" destId="{2554B013-BFB6-43A6-9EA9-2BFBB789DA62}" srcOrd="1" destOrd="0" presId="urn:microsoft.com/office/officeart/2005/8/layout/hierarchy2"/>
    <dgm:cxn modelId="{D87A7EDE-6DCD-4D66-92E8-FD8A3E736299}" type="presParOf" srcId="{9FAF234E-E18F-4129-91A0-93CF9DC408D1}" destId="{8921FE5D-9D16-437A-985F-F054EB91614F}" srcOrd="2" destOrd="0" presId="urn:microsoft.com/office/officeart/2005/8/layout/hierarchy2"/>
    <dgm:cxn modelId="{6F0CDC52-04DB-402C-BBDC-33BDB27BA33B}" type="presParOf" srcId="{8921FE5D-9D16-437A-985F-F054EB91614F}" destId="{974E2799-01CA-4B6E-AF5E-A1005144B3D2}" srcOrd="0" destOrd="0" presId="urn:microsoft.com/office/officeart/2005/8/layout/hierarchy2"/>
    <dgm:cxn modelId="{9A8C513D-B86C-4124-85C4-FE5775D1C587}" type="presParOf" srcId="{9FAF234E-E18F-4129-91A0-93CF9DC408D1}" destId="{72A9DC8B-5FDA-45BE-9F2F-6DFF555CE7D1}" srcOrd="3" destOrd="0" presId="urn:microsoft.com/office/officeart/2005/8/layout/hierarchy2"/>
    <dgm:cxn modelId="{A74A1FD5-0D08-46C7-BACC-D4A2C5B8FA60}" type="presParOf" srcId="{72A9DC8B-5FDA-45BE-9F2F-6DFF555CE7D1}" destId="{0DEDBEBD-9942-4589-BC43-E81F02D22F06}" srcOrd="0" destOrd="0" presId="urn:microsoft.com/office/officeart/2005/8/layout/hierarchy2"/>
    <dgm:cxn modelId="{49300A8F-07B6-4DC7-83F4-6D5B2370C659}" type="presParOf" srcId="{72A9DC8B-5FDA-45BE-9F2F-6DFF555CE7D1}" destId="{1D11741F-9795-4F69-A8D5-E86AA6513AC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ECEAB-4590-413F-A346-8CE4A36ACE37}">
      <dsp:nvSpPr>
        <dsp:cNvPr id="0" name=""/>
        <dsp:cNvSpPr/>
      </dsp:nvSpPr>
      <dsp:spPr>
        <a:xfrm>
          <a:off x="6426717" y="1373911"/>
          <a:ext cx="2293339" cy="11466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rchivo" panose="020B0604020202020204" charset="0"/>
              <a:cs typeface="Archivo" panose="020B0604020202020204" charset="0"/>
            </a:rPr>
            <a:t>Output Gene Candidates</a:t>
          </a:r>
          <a:endParaRPr lang="en-CA" sz="3000" kern="1200" dirty="0">
            <a:latin typeface="Archivo" panose="020B0604020202020204" charset="0"/>
            <a:cs typeface="Archivo" panose="020B0604020202020204" charset="0"/>
          </a:endParaRPr>
        </a:p>
      </dsp:txBody>
      <dsp:txXfrm>
        <a:off x="6460302" y="1407496"/>
        <a:ext cx="2226169" cy="1079499"/>
      </dsp:txXfrm>
    </dsp:sp>
    <dsp:sp modelId="{7858B6F1-4DDA-41B9-8EDD-BADD145601DA}">
      <dsp:nvSpPr>
        <dsp:cNvPr id="0" name=""/>
        <dsp:cNvSpPr/>
      </dsp:nvSpPr>
      <dsp:spPr>
        <a:xfrm rot="10800000">
          <a:off x="5509382" y="1920747"/>
          <a:ext cx="917335" cy="52998"/>
        </a:xfrm>
        <a:custGeom>
          <a:avLst/>
          <a:gdLst/>
          <a:ahLst/>
          <a:cxnLst/>
          <a:rect l="0" t="0" r="0" b="0"/>
          <a:pathLst>
            <a:path>
              <a:moveTo>
                <a:pt x="0" y="26499"/>
              </a:moveTo>
              <a:lnTo>
                <a:pt x="917335" y="2649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 rot="10800000">
        <a:off x="5945116" y="1924313"/>
        <a:ext cx="45866" cy="45866"/>
      </dsp:txXfrm>
    </dsp:sp>
    <dsp:sp modelId="{B160867C-3472-49F9-9488-986032C3A5DA}">
      <dsp:nvSpPr>
        <dsp:cNvPr id="0" name=""/>
        <dsp:cNvSpPr/>
      </dsp:nvSpPr>
      <dsp:spPr>
        <a:xfrm>
          <a:off x="3216042" y="1373911"/>
          <a:ext cx="2293339" cy="11466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rchivo" panose="020B0604020202020204" charset="0"/>
              <a:cs typeface="Archivo" panose="020B0604020202020204" charset="0"/>
            </a:rPr>
            <a:t>SCZ </a:t>
          </a:r>
          <a:r>
            <a:rPr lang="en-US" sz="3000" kern="1200" dirty="0">
              <a:latin typeface="Archivo" panose="020B0604020202020204" charset="0"/>
              <a:cs typeface="Archivo" panose="020B0604020202020204" charset="0"/>
              <a:sym typeface="Wingdings" panose="05000000000000000000" pitchFamily="2" charset="2"/>
            </a:rPr>
            <a:t>ASD</a:t>
          </a:r>
          <a:endParaRPr lang="en-CA" sz="3000" kern="1200" dirty="0">
            <a:latin typeface="Archivo" panose="020B0604020202020204" charset="0"/>
            <a:cs typeface="Archivo" panose="020B0604020202020204" charset="0"/>
          </a:endParaRPr>
        </a:p>
      </dsp:txBody>
      <dsp:txXfrm>
        <a:off x="3249627" y="1407496"/>
        <a:ext cx="2226169" cy="1079499"/>
      </dsp:txXfrm>
    </dsp:sp>
    <dsp:sp modelId="{7FB80390-2656-44AE-A755-FCE31C6917AA}">
      <dsp:nvSpPr>
        <dsp:cNvPr id="0" name=""/>
        <dsp:cNvSpPr/>
      </dsp:nvSpPr>
      <dsp:spPr>
        <a:xfrm rot="12942401">
          <a:off x="2192523" y="1591079"/>
          <a:ext cx="1129702" cy="52998"/>
        </a:xfrm>
        <a:custGeom>
          <a:avLst/>
          <a:gdLst/>
          <a:ahLst/>
          <a:cxnLst/>
          <a:rect l="0" t="0" r="0" b="0"/>
          <a:pathLst>
            <a:path>
              <a:moveTo>
                <a:pt x="0" y="26499"/>
              </a:moveTo>
              <a:lnTo>
                <a:pt x="1129702" y="26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 rot="10800000">
        <a:off x="2729132" y="1589336"/>
        <a:ext cx="56485" cy="56485"/>
      </dsp:txXfrm>
    </dsp:sp>
    <dsp:sp modelId="{C2A36AFC-F42A-46A7-9054-A3CA0D387A01}">
      <dsp:nvSpPr>
        <dsp:cNvPr id="0" name=""/>
        <dsp:cNvSpPr/>
      </dsp:nvSpPr>
      <dsp:spPr>
        <a:xfrm>
          <a:off x="5368" y="714576"/>
          <a:ext cx="2293339" cy="11466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rchivo" panose="020B0604020202020204" charset="0"/>
              <a:cs typeface="Archivo" panose="020B0604020202020204" charset="0"/>
            </a:rPr>
            <a:t>SCZ </a:t>
          </a:r>
          <a:r>
            <a:rPr lang="en-US" sz="3000" kern="1200" dirty="0">
              <a:latin typeface="Archivo" panose="020B0604020202020204" charset="0"/>
              <a:cs typeface="Archivo" panose="020B0604020202020204" charset="0"/>
              <a:sym typeface="Wingdings" panose="05000000000000000000" pitchFamily="2" charset="2"/>
            </a:rPr>
            <a:t>Controls</a:t>
          </a:r>
          <a:endParaRPr lang="en-CA" sz="3000" kern="1200" dirty="0">
            <a:latin typeface="Archivo" panose="020B0604020202020204" charset="0"/>
            <a:cs typeface="Archivo" panose="020B0604020202020204" charset="0"/>
          </a:endParaRPr>
        </a:p>
      </dsp:txBody>
      <dsp:txXfrm>
        <a:off x="38953" y="748161"/>
        <a:ext cx="2226169" cy="1079499"/>
      </dsp:txXfrm>
    </dsp:sp>
    <dsp:sp modelId="{8921FE5D-9D16-437A-985F-F054EB91614F}">
      <dsp:nvSpPr>
        <dsp:cNvPr id="0" name=""/>
        <dsp:cNvSpPr/>
      </dsp:nvSpPr>
      <dsp:spPr>
        <a:xfrm rot="8657599">
          <a:off x="2192523" y="2250414"/>
          <a:ext cx="1129702" cy="52998"/>
        </a:xfrm>
        <a:custGeom>
          <a:avLst/>
          <a:gdLst/>
          <a:ahLst/>
          <a:cxnLst/>
          <a:rect l="0" t="0" r="0" b="0"/>
          <a:pathLst>
            <a:path>
              <a:moveTo>
                <a:pt x="0" y="26499"/>
              </a:moveTo>
              <a:lnTo>
                <a:pt x="1129702" y="264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500" kern="1200"/>
        </a:p>
      </dsp:txBody>
      <dsp:txXfrm rot="10800000">
        <a:off x="2729132" y="2248671"/>
        <a:ext cx="56485" cy="56485"/>
      </dsp:txXfrm>
    </dsp:sp>
    <dsp:sp modelId="{0DEDBEBD-9942-4589-BC43-E81F02D22F06}">
      <dsp:nvSpPr>
        <dsp:cNvPr id="0" name=""/>
        <dsp:cNvSpPr/>
      </dsp:nvSpPr>
      <dsp:spPr>
        <a:xfrm>
          <a:off x="5368" y="2033246"/>
          <a:ext cx="2293339" cy="11466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Archivo" panose="020B0604020202020204" charset="0"/>
              <a:cs typeface="Archivo" panose="020B0604020202020204" charset="0"/>
            </a:rPr>
            <a:t>ASD </a:t>
          </a:r>
          <a:r>
            <a:rPr lang="en-US" sz="3000" kern="1200" dirty="0">
              <a:latin typeface="Archivo" panose="020B0604020202020204" charset="0"/>
              <a:cs typeface="Archivo" panose="020B0604020202020204" charset="0"/>
              <a:sym typeface="Wingdings" panose="05000000000000000000" pitchFamily="2" charset="2"/>
            </a:rPr>
            <a:t>Controls</a:t>
          </a:r>
          <a:endParaRPr lang="en-CA" sz="3000" kern="1200" dirty="0">
            <a:latin typeface="Archivo" panose="020B0604020202020204" charset="0"/>
            <a:cs typeface="Archivo" panose="020B0604020202020204" charset="0"/>
          </a:endParaRPr>
        </a:p>
      </dsp:txBody>
      <dsp:txXfrm>
        <a:off x="38953" y="2066831"/>
        <a:ext cx="2226169" cy="1079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7T07:55:07.7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1,'4167'0,"-4182"0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7T07:55:20.8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1,'7315'0,"-7299"0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d95d63e52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d95d63e52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dca804f91b_0_22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dca804f91b_0_22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dca804f91b_0_23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dca804f91b_0_23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d95d63e52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d95d63e52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dca804f91b_0_23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dca804f91b_0_23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dca804f91b_0_23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dca804f91b_0_23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dca804f91b_0_23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dca804f91b_0_23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dca804f91b_0_23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dca804f91b_0_23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dca804f91b_0_23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dca804f91b_0_23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dca804f91b_0_23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dca804f91b_0_23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dca804f91b_0_23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dca804f91b_0_23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ca804f91b_0_23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ca804f91b_0_23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143500" y="1479513"/>
            <a:ext cx="3287400" cy="17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58575" y="4043550"/>
            <a:ext cx="6172200" cy="38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5143500" y="3168688"/>
            <a:ext cx="32874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 Black"/>
              <a:buNone/>
              <a:defRPr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340350" y="1973250"/>
            <a:ext cx="5090400" cy="13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539500"/>
            <a:ext cx="2485500" cy="15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9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3094175" y="3534300"/>
            <a:ext cx="5336700" cy="4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713225" y="1557300"/>
            <a:ext cx="5372400" cy="277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■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336800" y="2570650"/>
            <a:ext cx="2922000" cy="15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2"/>
          </p:nvPr>
        </p:nvSpPr>
        <p:spPr>
          <a:xfrm>
            <a:off x="2182400" y="2047450"/>
            <a:ext cx="3506700" cy="5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_1_1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_1_1_1_1_1_2">
    <p:bg>
      <p:bgPr>
        <a:solidFill>
          <a:schemeClr val="dk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_1_1_1_1_1_1_1_1_1_1_1_1_1_1_1">
    <p:bg>
      <p:bgPr>
        <a:solidFill>
          <a:schemeClr val="lt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>
            <a:spLocks noGrp="1"/>
          </p:cNvSpPr>
          <p:nvPr>
            <p:ph type="title"/>
          </p:nvPr>
        </p:nvSpPr>
        <p:spPr>
          <a:xfrm>
            <a:off x="2200200" y="539500"/>
            <a:ext cx="4743600" cy="9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0" name="Google Shape;160;p33"/>
          <p:cNvSpPr txBox="1">
            <a:spLocks noGrp="1"/>
          </p:cNvSpPr>
          <p:nvPr>
            <p:ph type="subTitle" idx="1"/>
          </p:nvPr>
        </p:nvSpPr>
        <p:spPr>
          <a:xfrm>
            <a:off x="2336400" y="2286150"/>
            <a:ext cx="4471200" cy="9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1" name="Google Shape;161;p33"/>
          <p:cNvSpPr txBox="1">
            <a:spLocks noGrp="1"/>
          </p:cNvSpPr>
          <p:nvPr>
            <p:ph type="subTitle" idx="2"/>
          </p:nvPr>
        </p:nvSpPr>
        <p:spPr>
          <a:xfrm>
            <a:off x="2336403" y="1762950"/>
            <a:ext cx="4471200" cy="5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62" name="Google Shape;162;p33"/>
          <p:cNvSpPr txBox="1"/>
          <p:nvPr/>
        </p:nvSpPr>
        <p:spPr>
          <a:xfrm>
            <a:off x="2212650" y="3759800"/>
            <a:ext cx="47187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2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lang="en" sz="1200" b="1">
                <a:solidFill>
                  <a:srgbClr val="434343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, including icons by </a:t>
            </a:r>
            <a:r>
              <a:rPr lang="en" sz="1200" b="1">
                <a:solidFill>
                  <a:srgbClr val="434343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lang="en" sz="1200" b="1">
                <a:solidFill>
                  <a:srgbClr val="434343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rgbClr val="4343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_1_1_1_1_1_1_1_1_1_1_1_1_1_1_1_1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_1_1_1_1_1_1_1_1_1_1_1_1_1_1_1_1">
    <p:bg>
      <p:bgPr>
        <a:solidFill>
          <a:schemeClr val="dk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lt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subTitle" idx="1"/>
          </p:nvPr>
        </p:nvSpPr>
        <p:spPr>
          <a:xfrm>
            <a:off x="964500" y="39668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7" name="Google Shape;147;p32"/>
          <p:cNvSpPr txBox="1">
            <a:spLocks noGrp="1"/>
          </p:cNvSpPr>
          <p:nvPr>
            <p:ph type="subTitle" idx="2"/>
          </p:nvPr>
        </p:nvSpPr>
        <p:spPr>
          <a:xfrm>
            <a:off x="964526" y="34730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48" name="Google Shape;148;p32"/>
          <p:cNvSpPr txBox="1">
            <a:spLocks noGrp="1"/>
          </p:cNvSpPr>
          <p:nvPr>
            <p:ph type="subTitle" idx="3"/>
          </p:nvPr>
        </p:nvSpPr>
        <p:spPr>
          <a:xfrm>
            <a:off x="6241413" y="39668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9" name="Google Shape;149;p32"/>
          <p:cNvSpPr txBox="1">
            <a:spLocks noGrp="1"/>
          </p:cNvSpPr>
          <p:nvPr>
            <p:ph type="subTitle" idx="4"/>
          </p:nvPr>
        </p:nvSpPr>
        <p:spPr>
          <a:xfrm>
            <a:off x="6241439" y="34730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50" name="Google Shape;150;p32"/>
          <p:cNvSpPr txBox="1">
            <a:spLocks noGrp="1"/>
          </p:cNvSpPr>
          <p:nvPr>
            <p:ph type="subTitle" idx="5"/>
          </p:nvPr>
        </p:nvSpPr>
        <p:spPr>
          <a:xfrm>
            <a:off x="3602956" y="39668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1" name="Google Shape;151;p32"/>
          <p:cNvSpPr txBox="1">
            <a:spLocks noGrp="1"/>
          </p:cNvSpPr>
          <p:nvPr>
            <p:ph type="subTitle" idx="6"/>
          </p:nvPr>
        </p:nvSpPr>
        <p:spPr>
          <a:xfrm>
            <a:off x="3602983" y="34730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52" name="Google Shape;152;p32"/>
          <p:cNvSpPr txBox="1">
            <a:spLocks noGrp="1"/>
          </p:cNvSpPr>
          <p:nvPr>
            <p:ph type="subTitle" idx="7"/>
          </p:nvPr>
        </p:nvSpPr>
        <p:spPr>
          <a:xfrm>
            <a:off x="964538" y="23229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32"/>
          <p:cNvSpPr txBox="1">
            <a:spLocks noGrp="1"/>
          </p:cNvSpPr>
          <p:nvPr>
            <p:ph type="subTitle" idx="8"/>
          </p:nvPr>
        </p:nvSpPr>
        <p:spPr>
          <a:xfrm>
            <a:off x="964539" y="18291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54" name="Google Shape;154;p32"/>
          <p:cNvSpPr txBox="1">
            <a:spLocks noGrp="1"/>
          </p:cNvSpPr>
          <p:nvPr>
            <p:ph type="subTitle" idx="9"/>
          </p:nvPr>
        </p:nvSpPr>
        <p:spPr>
          <a:xfrm>
            <a:off x="6241450" y="23229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subTitle" idx="13"/>
          </p:nvPr>
        </p:nvSpPr>
        <p:spPr>
          <a:xfrm>
            <a:off x="6241451" y="18291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ubTitle" idx="14"/>
          </p:nvPr>
        </p:nvSpPr>
        <p:spPr>
          <a:xfrm>
            <a:off x="3602994" y="23229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subTitle" idx="15"/>
          </p:nvPr>
        </p:nvSpPr>
        <p:spPr>
          <a:xfrm>
            <a:off x="3602995" y="18291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3409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subTitle" idx="1"/>
          </p:nvPr>
        </p:nvSpPr>
        <p:spPr>
          <a:xfrm>
            <a:off x="713228" y="1724775"/>
            <a:ext cx="2463600" cy="9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subTitle" idx="2"/>
          </p:nvPr>
        </p:nvSpPr>
        <p:spPr>
          <a:xfrm>
            <a:off x="713225" y="2632875"/>
            <a:ext cx="2463600" cy="5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u="sng"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subTitle" idx="3"/>
          </p:nvPr>
        </p:nvSpPr>
        <p:spPr>
          <a:xfrm>
            <a:off x="5967128" y="1724775"/>
            <a:ext cx="2463600" cy="9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4"/>
          </p:nvPr>
        </p:nvSpPr>
        <p:spPr>
          <a:xfrm>
            <a:off x="5967125" y="2632875"/>
            <a:ext cx="2463600" cy="5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u="sng"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subTitle" idx="5"/>
          </p:nvPr>
        </p:nvSpPr>
        <p:spPr>
          <a:xfrm>
            <a:off x="3340178" y="1724775"/>
            <a:ext cx="2463600" cy="9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subTitle" idx="6"/>
          </p:nvPr>
        </p:nvSpPr>
        <p:spPr>
          <a:xfrm>
            <a:off x="3340175" y="2632875"/>
            <a:ext cx="2463600" cy="5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u="sng"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720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Char char="●"/>
              <a:defRPr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8" r:id="rId6"/>
    <p:sldLayoutId id="2147483662" r:id="rId7"/>
    <p:sldLayoutId id="2147483663" r:id="rId8"/>
    <p:sldLayoutId id="2147483667" r:id="rId9"/>
    <p:sldLayoutId id="2147483679" r:id="rId10"/>
    <p:sldLayoutId id="2147483680" r:id="rId11"/>
    <p:sldLayoutId id="2147483681" r:id="rId12"/>
    <p:sldLayoutId id="2147483685" r:id="rId13"/>
    <p:sldLayoutId id="214748368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>
            <a:spLocks noGrp="1"/>
          </p:cNvSpPr>
          <p:nvPr>
            <p:ph type="ctrTitle"/>
          </p:nvPr>
        </p:nvSpPr>
        <p:spPr>
          <a:xfrm>
            <a:off x="4634167" y="949280"/>
            <a:ext cx="4333987" cy="29465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u="sng" dirty="0">
                <a:effectLst/>
                <a:latin typeface="Archivo Black" panose="020B0604020202020204" charset="0"/>
                <a:ea typeface="Calibri" panose="020F0502020204030204" pitchFamily="34" charset="0"/>
                <a:cs typeface="Archivo Black" panose="020B0604020202020204" charset="0"/>
              </a:rPr>
              <a:t>Identification of Similar Differential Expression Genes between Schizophrenia and Autism Spectrum Disorder Patients</a:t>
            </a:r>
            <a:endParaRPr lang="en-CA" sz="2400" dirty="0">
              <a:effectLst/>
              <a:latin typeface="Archivo Black" panose="020B0604020202020204" charset="0"/>
              <a:ea typeface="Calibri" panose="020F0502020204030204" pitchFamily="34" charset="0"/>
              <a:cs typeface="Archivo Black" panose="020B0604020202020204" charset="0"/>
            </a:endParaRPr>
          </a:p>
        </p:txBody>
      </p:sp>
      <p:sp>
        <p:nvSpPr>
          <p:cNvPr id="174" name="Google Shape;174;p38"/>
          <p:cNvSpPr txBox="1">
            <a:spLocks noGrp="1"/>
          </p:cNvSpPr>
          <p:nvPr>
            <p:ph type="subTitle" idx="1"/>
          </p:nvPr>
        </p:nvSpPr>
        <p:spPr>
          <a:xfrm>
            <a:off x="2258575" y="4043550"/>
            <a:ext cx="6172200" cy="38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chivo Black"/>
                <a:ea typeface="Archivo Black"/>
                <a:cs typeface="Archivo Black"/>
                <a:sym typeface="Archivo Black"/>
              </a:rPr>
              <a:t>Keaton Banik</a:t>
            </a:r>
            <a:endParaRPr dirty="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176" name="Google Shape;176;p38"/>
          <p:cNvGrpSpPr/>
          <p:nvPr/>
        </p:nvGrpSpPr>
        <p:grpSpPr>
          <a:xfrm rot="2392192">
            <a:off x="-435515" y="-3311915"/>
            <a:ext cx="4278758" cy="10782679"/>
            <a:chOff x="5762975" y="2535925"/>
            <a:chExt cx="781225" cy="1968725"/>
          </a:xfrm>
        </p:grpSpPr>
        <p:sp>
          <p:nvSpPr>
            <p:cNvPr id="177" name="Google Shape;177;p38"/>
            <p:cNvSpPr/>
            <p:nvPr/>
          </p:nvSpPr>
          <p:spPr>
            <a:xfrm>
              <a:off x="5777825" y="4414450"/>
              <a:ext cx="691625" cy="90200"/>
            </a:xfrm>
            <a:custGeom>
              <a:avLst/>
              <a:gdLst/>
              <a:ahLst/>
              <a:cxnLst/>
              <a:rect l="l" t="t" r="r" b="b"/>
              <a:pathLst>
                <a:path w="27665" h="3608" extrusionOk="0">
                  <a:moveTo>
                    <a:pt x="1803" y="1"/>
                  </a:moveTo>
                  <a:cubicBezTo>
                    <a:pt x="822" y="1"/>
                    <a:pt x="0" y="800"/>
                    <a:pt x="0" y="1804"/>
                  </a:cubicBezTo>
                  <a:cubicBezTo>
                    <a:pt x="0" y="2785"/>
                    <a:pt x="822" y="3607"/>
                    <a:pt x="1803" y="3607"/>
                  </a:cubicBezTo>
                  <a:cubicBezTo>
                    <a:pt x="2808" y="3607"/>
                    <a:pt x="3606" y="2785"/>
                    <a:pt x="3606" y="1804"/>
                  </a:cubicBezTo>
                  <a:lnTo>
                    <a:pt x="24058" y="1804"/>
                  </a:lnTo>
                  <a:cubicBezTo>
                    <a:pt x="24058" y="2785"/>
                    <a:pt x="24857" y="3607"/>
                    <a:pt x="25861" y="3607"/>
                  </a:cubicBezTo>
                  <a:cubicBezTo>
                    <a:pt x="26843" y="3607"/>
                    <a:pt x="27664" y="2785"/>
                    <a:pt x="27664" y="1804"/>
                  </a:cubicBezTo>
                  <a:cubicBezTo>
                    <a:pt x="27664" y="800"/>
                    <a:pt x="26843" y="1"/>
                    <a:pt x="25861" y="1"/>
                  </a:cubicBezTo>
                  <a:cubicBezTo>
                    <a:pt x="25062" y="1"/>
                    <a:pt x="24400" y="503"/>
                    <a:pt x="24172" y="1188"/>
                  </a:cubicBezTo>
                  <a:lnTo>
                    <a:pt x="3492" y="1188"/>
                  </a:lnTo>
                  <a:cubicBezTo>
                    <a:pt x="3264" y="503"/>
                    <a:pt x="2602" y="1"/>
                    <a:pt x="180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8"/>
            <p:cNvSpPr/>
            <p:nvPr/>
          </p:nvSpPr>
          <p:spPr>
            <a:xfrm>
              <a:off x="5943300" y="2686025"/>
              <a:ext cx="600900" cy="120425"/>
            </a:xfrm>
            <a:custGeom>
              <a:avLst/>
              <a:gdLst/>
              <a:ahLst/>
              <a:cxnLst/>
              <a:rect l="l" t="t" r="r" b="b"/>
              <a:pathLst>
                <a:path w="24036" h="4817" extrusionOk="0">
                  <a:moveTo>
                    <a:pt x="21639" y="0"/>
                  </a:moveTo>
                  <a:cubicBezTo>
                    <a:pt x="20315" y="0"/>
                    <a:pt x="19242" y="1073"/>
                    <a:pt x="19242" y="2397"/>
                  </a:cubicBezTo>
                  <a:lnTo>
                    <a:pt x="2968" y="2397"/>
                  </a:lnTo>
                  <a:cubicBezTo>
                    <a:pt x="2831" y="1712"/>
                    <a:pt x="2237" y="1210"/>
                    <a:pt x="1507" y="1210"/>
                  </a:cubicBezTo>
                  <a:cubicBezTo>
                    <a:pt x="662" y="1210"/>
                    <a:pt x="0" y="1872"/>
                    <a:pt x="0" y="2716"/>
                  </a:cubicBezTo>
                  <a:cubicBezTo>
                    <a:pt x="0" y="3538"/>
                    <a:pt x="662" y="4200"/>
                    <a:pt x="1507" y="4200"/>
                  </a:cubicBezTo>
                  <a:cubicBezTo>
                    <a:pt x="2237" y="4200"/>
                    <a:pt x="2831" y="3698"/>
                    <a:pt x="2968" y="3013"/>
                  </a:cubicBezTo>
                  <a:lnTo>
                    <a:pt x="19311" y="3013"/>
                  </a:lnTo>
                  <a:cubicBezTo>
                    <a:pt x="19585" y="4040"/>
                    <a:pt x="20520" y="4816"/>
                    <a:pt x="21639" y="4816"/>
                  </a:cubicBezTo>
                  <a:cubicBezTo>
                    <a:pt x="22963" y="4816"/>
                    <a:pt x="24035" y="3743"/>
                    <a:pt x="24035" y="2397"/>
                  </a:cubicBezTo>
                  <a:cubicBezTo>
                    <a:pt x="24035" y="1073"/>
                    <a:pt x="22963" y="0"/>
                    <a:pt x="216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8"/>
            <p:cNvSpPr/>
            <p:nvPr/>
          </p:nvSpPr>
          <p:spPr>
            <a:xfrm>
              <a:off x="6108775" y="2821250"/>
              <a:ext cx="390350" cy="150100"/>
            </a:xfrm>
            <a:custGeom>
              <a:avLst/>
              <a:gdLst/>
              <a:ahLst/>
              <a:cxnLst/>
              <a:rect l="l" t="t" r="r" b="b"/>
              <a:pathLst>
                <a:path w="15614" h="6004" extrusionOk="0">
                  <a:moveTo>
                    <a:pt x="12623" y="1"/>
                  </a:moveTo>
                  <a:cubicBezTo>
                    <a:pt x="11162" y="1"/>
                    <a:pt x="9953" y="1028"/>
                    <a:pt x="9679" y="2397"/>
                  </a:cubicBezTo>
                  <a:lnTo>
                    <a:pt x="2968" y="2397"/>
                  </a:lnTo>
                  <a:cubicBezTo>
                    <a:pt x="2831" y="1712"/>
                    <a:pt x="2215" y="1210"/>
                    <a:pt x="1484" y="1210"/>
                  </a:cubicBezTo>
                  <a:cubicBezTo>
                    <a:pt x="663" y="1210"/>
                    <a:pt x="1" y="1872"/>
                    <a:pt x="1" y="2717"/>
                  </a:cubicBezTo>
                  <a:cubicBezTo>
                    <a:pt x="1" y="3539"/>
                    <a:pt x="663" y="4200"/>
                    <a:pt x="1484" y="4200"/>
                  </a:cubicBezTo>
                  <a:cubicBezTo>
                    <a:pt x="2215" y="4200"/>
                    <a:pt x="2831" y="3698"/>
                    <a:pt x="2968" y="3014"/>
                  </a:cubicBezTo>
                  <a:lnTo>
                    <a:pt x="9610" y="3014"/>
                  </a:lnTo>
                  <a:cubicBezTo>
                    <a:pt x="9610" y="4657"/>
                    <a:pt x="10957" y="6004"/>
                    <a:pt x="12623" y="6004"/>
                  </a:cubicBezTo>
                  <a:cubicBezTo>
                    <a:pt x="14267" y="6004"/>
                    <a:pt x="15613" y="4657"/>
                    <a:pt x="15613" y="3014"/>
                  </a:cubicBezTo>
                  <a:cubicBezTo>
                    <a:pt x="15613" y="1347"/>
                    <a:pt x="14267" y="1"/>
                    <a:pt x="1262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8"/>
            <p:cNvSpPr/>
            <p:nvPr/>
          </p:nvSpPr>
          <p:spPr>
            <a:xfrm>
              <a:off x="6228625" y="2956500"/>
              <a:ext cx="150650" cy="150100"/>
            </a:xfrm>
            <a:custGeom>
              <a:avLst/>
              <a:gdLst/>
              <a:ahLst/>
              <a:cxnLst/>
              <a:rect l="l" t="t" r="r" b="b"/>
              <a:pathLst>
                <a:path w="6026" h="6004" extrusionOk="0">
                  <a:moveTo>
                    <a:pt x="3013" y="0"/>
                  </a:moveTo>
                  <a:cubicBezTo>
                    <a:pt x="1347" y="0"/>
                    <a:pt x="0" y="1347"/>
                    <a:pt x="0" y="3013"/>
                  </a:cubicBezTo>
                  <a:cubicBezTo>
                    <a:pt x="0" y="4657"/>
                    <a:pt x="1347" y="6003"/>
                    <a:pt x="3013" y="6003"/>
                  </a:cubicBezTo>
                  <a:cubicBezTo>
                    <a:pt x="4679" y="6003"/>
                    <a:pt x="6026" y="4657"/>
                    <a:pt x="6026" y="3013"/>
                  </a:cubicBezTo>
                  <a:cubicBezTo>
                    <a:pt x="6026" y="1347"/>
                    <a:pt x="4679" y="0"/>
                    <a:pt x="301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8"/>
            <p:cNvSpPr/>
            <p:nvPr/>
          </p:nvSpPr>
          <p:spPr>
            <a:xfrm>
              <a:off x="5762975" y="3677775"/>
              <a:ext cx="616300" cy="150675"/>
            </a:xfrm>
            <a:custGeom>
              <a:avLst/>
              <a:gdLst/>
              <a:ahLst/>
              <a:cxnLst/>
              <a:rect l="l" t="t" r="r" b="b"/>
              <a:pathLst>
                <a:path w="24652" h="6027" extrusionOk="0">
                  <a:moveTo>
                    <a:pt x="21639" y="0"/>
                  </a:moveTo>
                  <a:cubicBezTo>
                    <a:pt x="20178" y="0"/>
                    <a:pt x="18968" y="1027"/>
                    <a:pt x="18695" y="2420"/>
                  </a:cubicBezTo>
                  <a:lnTo>
                    <a:pt x="4725" y="2420"/>
                  </a:lnTo>
                  <a:cubicBezTo>
                    <a:pt x="4452" y="1370"/>
                    <a:pt x="3516" y="617"/>
                    <a:pt x="2397" y="617"/>
                  </a:cubicBezTo>
                  <a:cubicBezTo>
                    <a:pt x="1073" y="617"/>
                    <a:pt x="1" y="1689"/>
                    <a:pt x="1" y="3013"/>
                  </a:cubicBezTo>
                  <a:cubicBezTo>
                    <a:pt x="1" y="4337"/>
                    <a:pt x="1073" y="5410"/>
                    <a:pt x="2397" y="5410"/>
                  </a:cubicBezTo>
                  <a:cubicBezTo>
                    <a:pt x="3721" y="5410"/>
                    <a:pt x="4817" y="4337"/>
                    <a:pt x="4817" y="3013"/>
                  </a:cubicBezTo>
                  <a:lnTo>
                    <a:pt x="18626" y="3013"/>
                  </a:lnTo>
                  <a:cubicBezTo>
                    <a:pt x="18626" y="4679"/>
                    <a:pt x="19973" y="6026"/>
                    <a:pt x="21639" y="6026"/>
                  </a:cubicBezTo>
                  <a:cubicBezTo>
                    <a:pt x="23305" y="6026"/>
                    <a:pt x="24652" y="4679"/>
                    <a:pt x="24652" y="3013"/>
                  </a:cubicBezTo>
                  <a:cubicBezTo>
                    <a:pt x="24652" y="1347"/>
                    <a:pt x="23305" y="0"/>
                    <a:pt x="216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8"/>
            <p:cNvSpPr/>
            <p:nvPr/>
          </p:nvSpPr>
          <p:spPr>
            <a:xfrm>
              <a:off x="5762975" y="3542525"/>
              <a:ext cx="736150" cy="150675"/>
            </a:xfrm>
            <a:custGeom>
              <a:avLst/>
              <a:gdLst/>
              <a:ahLst/>
              <a:cxnLst/>
              <a:rect l="l" t="t" r="r" b="b"/>
              <a:pathLst>
                <a:path w="29446" h="6027" extrusionOk="0">
                  <a:moveTo>
                    <a:pt x="26455" y="1"/>
                  </a:moveTo>
                  <a:cubicBezTo>
                    <a:pt x="24994" y="1"/>
                    <a:pt x="23785" y="1028"/>
                    <a:pt x="23511" y="2420"/>
                  </a:cubicBezTo>
                  <a:lnTo>
                    <a:pt x="4725" y="2420"/>
                  </a:lnTo>
                  <a:cubicBezTo>
                    <a:pt x="4452" y="1370"/>
                    <a:pt x="3516" y="617"/>
                    <a:pt x="2397" y="617"/>
                  </a:cubicBezTo>
                  <a:cubicBezTo>
                    <a:pt x="1073" y="617"/>
                    <a:pt x="1" y="1690"/>
                    <a:pt x="1" y="3014"/>
                  </a:cubicBezTo>
                  <a:cubicBezTo>
                    <a:pt x="1" y="4338"/>
                    <a:pt x="1073" y="5410"/>
                    <a:pt x="2397" y="5410"/>
                  </a:cubicBezTo>
                  <a:cubicBezTo>
                    <a:pt x="3721" y="5410"/>
                    <a:pt x="4817" y="4338"/>
                    <a:pt x="4817" y="3014"/>
                  </a:cubicBezTo>
                  <a:lnTo>
                    <a:pt x="23442" y="3014"/>
                  </a:lnTo>
                  <a:cubicBezTo>
                    <a:pt x="23442" y="4680"/>
                    <a:pt x="24789" y="6027"/>
                    <a:pt x="26455" y="6027"/>
                  </a:cubicBezTo>
                  <a:cubicBezTo>
                    <a:pt x="28099" y="6027"/>
                    <a:pt x="29445" y="4680"/>
                    <a:pt x="29445" y="3014"/>
                  </a:cubicBezTo>
                  <a:cubicBezTo>
                    <a:pt x="29445" y="1347"/>
                    <a:pt x="28099" y="1"/>
                    <a:pt x="2645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8"/>
            <p:cNvSpPr/>
            <p:nvPr/>
          </p:nvSpPr>
          <p:spPr>
            <a:xfrm>
              <a:off x="5822900" y="3798175"/>
              <a:ext cx="421150" cy="180350"/>
            </a:xfrm>
            <a:custGeom>
              <a:avLst/>
              <a:gdLst/>
              <a:ahLst/>
              <a:cxnLst/>
              <a:rect l="l" t="t" r="r" b="b"/>
              <a:pathLst>
                <a:path w="16846" h="7214" extrusionOk="0">
                  <a:moveTo>
                    <a:pt x="13239" y="0"/>
                  </a:moveTo>
                  <a:cubicBezTo>
                    <a:pt x="11436" y="0"/>
                    <a:pt x="9975" y="1301"/>
                    <a:pt x="9678" y="3013"/>
                  </a:cubicBezTo>
                  <a:lnTo>
                    <a:pt x="3493" y="3013"/>
                  </a:lnTo>
                  <a:cubicBezTo>
                    <a:pt x="3264" y="2306"/>
                    <a:pt x="2602" y="1804"/>
                    <a:pt x="1803" y="1804"/>
                  </a:cubicBezTo>
                  <a:cubicBezTo>
                    <a:pt x="822" y="1804"/>
                    <a:pt x="0" y="2603"/>
                    <a:pt x="0" y="3607"/>
                  </a:cubicBezTo>
                  <a:cubicBezTo>
                    <a:pt x="0" y="4611"/>
                    <a:pt x="822" y="5410"/>
                    <a:pt x="1803" y="5410"/>
                  </a:cubicBezTo>
                  <a:cubicBezTo>
                    <a:pt x="2808" y="5410"/>
                    <a:pt x="3607" y="4611"/>
                    <a:pt x="3607" y="3607"/>
                  </a:cubicBezTo>
                  <a:lnTo>
                    <a:pt x="9633" y="3607"/>
                  </a:lnTo>
                  <a:cubicBezTo>
                    <a:pt x="9633" y="5593"/>
                    <a:pt x="11230" y="7213"/>
                    <a:pt x="13239" y="7213"/>
                  </a:cubicBezTo>
                  <a:cubicBezTo>
                    <a:pt x="15225" y="7213"/>
                    <a:pt x="16845" y="5593"/>
                    <a:pt x="16845" y="3607"/>
                  </a:cubicBezTo>
                  <a:cubicBezTo>
                    <a:pt x="16845" y="1621"/>
                    <a:pt x="15225" y="0"/>
                    <a:pt x="132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8"/>
            <p:cNvSpPr/>
            <p:nvPr/>
          </p:nvSpPr>
          <p:spPr>
            <a:xfrm>
              <a:off x="5913050" y="3963650"/>
              <a:ext cx="150675" cy="150100"/>
            </a:xfrm>
            <a:custGeom>
              <a:avLst/>
              <a:gdLst/>
              <a:ahLst/>
              <a:cxnLst/>
              <a:rect l="l" t="t" r="r" b="b"/>
              <a:pathLst>
                <a:path w="6027" h="6004" extrusionOk="0">
                  <a:moveTo>
                    <a:pt x="3014" y="1"/>
                  </a:moveTo>
                  <a:cubicBezTo>
                    <a:pt x="1347" y="1"/>
                    <a:pt x="1" y="1347"/>
                    <a:pt x="1" y="2991"/>
                  </a:cubicBezTo>
                  <a:cubicBezTo>
                    <a:pt x="1" y="4657"/>
                    <a:pt x="1347" y="6004"/>
                    <a:pt x="3014" y="6004"/>
                  </a:cubicBezTo>
                  <a:cubicBezTo>
                    <a:pt x="4680" y="6004"/>
                    <a:pt x="6027" y="4657"/>
                    <a:pt x="6027" y="2991"/>
                  </a:cubicBezTo>
                  <a:cubicBezTo>
                    <a:pt x="6027" y="1347"/>
                    <a:pt x="4680" y="1"/>
                    <a:pt x="301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8"/>
            <p:cNvSpPr/>
            <p:nvPr/>
          </p:nvSpPr>
          <p:spPr>
            <a:xfrm>
              <a:off x="5822900" y="4113725"/>
              <a:ext cx="376075" cy="120425"/>
            </a:xfrm>
            <a:custGeom>
              <a:avLst/>
              <a:gdLst/>
              <a:ahLst/>
              <a:cxnLst/>
              <a:rect l="l" t="t" r="r" b="b"/>
              <a:pathLst>
                <a:path w="15043" h="4817" extrusionOk="0">
                  <a:moveTo>
                    <a:pt x="2420" y="1"/>
                  </a:moveTo>
                  <a:cubicBezTo>
                    <a:pt x="1073" y="1"/>
                    <a:pt x="0" y="1074"/>
                    <a:pt x="0" y="2397"/>
                  </a:cubicBezTo>
                  <a:cubicBezTo>
                    <a:pt x="0" y="3721"/>
                    <a:pt x="1073" y="4817"/>
                    <a:pt x="2420" y="4817"/>
                  </a:cubicBezTo>
                  <a:cubicBezTo>
                    <a:pt x="3538" y="4817"/>
                    <a:pt x="4474" y="4041"/>
                    <a:pt x="4748" y="3014"/>
                  </a:cubicBezTo>
                  <a:lnTo>
                    <a:pt x="11527" y="3014"/>
                  </a:lnTo>
                  <a:cubicBezTo>
                    <a:pt x="11778" y="3699"/>
                    <a:pt x="12440" y="4201"/>
                    <a:pt x="13239" y="4201"/>
                  </a:cubicBezTo>
                  <a:cubicBezTo>
                    <a:pt x="14220" y="4201"/>
                    <a:pt x="15042" y="3402"/>
                    <a:pt x="15042" y="2397"/>
                  </a:cubicBezTo>
                  <a:cubicBezTo>
                    <a:pt x="15042" y="1416"/>
                    <a:pt x="14220" y="594"/>
                    <a:pt x="13239" y="594"/>
                  </a:cubicBezTo>
                  <a:cubicBezTo>
                    <a:pt x="12235" y="594"/>
                    <a:pt x="11436" y="1416"/>
                    <a:pt x="11436" y="2397"/>
                  </a:cubicBezTo>
                  <a:lnTo>
                    <a:pt x="4816" y="2397"/>
                  </a:lnTo>
                  <a:cubicBezTo>
                    <a:pt x="4816" y="1074"/>
                    <a:pt x="3744" y="1"/>
                    <a:pt x="24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8"/>
            <p:cNvSpPr/>
            <p:nvPr/>
          </p:nvSpPr>
          <p:spPr>
            <a:xfrm>
              <a:off x="5777825" y="4279225"/>
              <a:ext cx="586050" cy="90175"/>
            </a:xfrm>
            <a:custGeom>
              <a:avLst/>
              <a:gdLst/>
              <a:ahLst/>
              <a:cxnLst/>
              <a:rect l="l" t="t" r="r" b="b"/>
              <a:pathLst>
                <a:path w="23442" h="3607" extrusionOk="0">
                  <a:moveTo>
                    <a:pt x="1803" y="0"/>
                  </a:moveTo>
                  <a:cubicBezTo>
                    <a:pt x="822" y="0"/>
                    <a:pt x="0" y="799"/>
                    <a:pt x="0" y="1803"/>
                  </a:cubicBezTo>
                  <a:cubicBezTo>
                    <a:pt x="0" y="2785"/>
                    <a:pt x="822" y="3607"/>
                    <a:pt x="1803" y="3607"/>
                  </a:cubicBezTo>
                  <a:cubicBezTo>
                    <a:pt x="2602" y="3607"/>
                    <a:pt x="3264" y="3104"/>
                    <a:pt x="3492" y="2397"/>
                  </a:cubicBezTo>
                  <a:lnTo>
                    <a:pt x="19949" y="2397"/>
                  </a:lnTo>
                  <a:cubicBezTo>
                    <a:pt x="20200" y="3104"/>
                    <a:pt x="20862" y="3607"/>
                    <a:pt x="21638" y="3607"/>
                  </a:cubicBezTo>
                  <a:cubicBezTo>
                    <a:pt x="22643" y="3607"/>
                    <a:pt x="23442" y="2785"/>
                    <a:pt x="23442" y="1803"/>
                  </a:cubicBezTo>
                  <a:cubicBezTo>
                    <a:pt x="23442" y="799"/>
                    <a:pt x="22643" y="0"/>
                    <a:pt x="21638" y="0"/>
                  </a:cubicBezTo>
                  <a:cubicBezTo>
                    <a:pt x="20657" y="0"/>
                    <a:pt x="19835" y="799"/>
                    <a:pt x="19835" y="1803"/>
                  </a:cubicBezTo>
                  <a:lnTo>
                    <a:pt x="3606" y="1803"/>
                  </a:lnTo>
                  <a:cubicBezTo>
                    <a:pt x="3606" y="799"/>
                    <a:pt x="2808" y="0"/>
                    <a:pt x="180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8"/>
            <p:cNvSpPr/>
            <p:nvPr/>
          </p:nvSpPr>
          <p:spPr>
            <a:xfrm>
              <a:off x="5867975" y="2535925"/>
              <a:ext cx="676225" cy="119875"/>
            </a:xfrm>
            <a:custGeom>
              <a:avLst/>
              <a:gdLst/>
              <a:ahLst/>
              <a:cxnLst/>
              <a:rect l="l" t="t" r="r" b="b"/>
              <a:pathLst>
                <a:path w="27049" h="4795" extrusionOk="0">
                  <a:moveTo>
                    <a:pt x="24652" y="1"/>
                  </a:moveTo>
                  <a:cubicBezTo>
                    <a:pt x="23328" y="1"/>
                    <a:pt x="22255" y="1074"/>
                    <a:pt x="22255" y="2398"/>
                  </a:cubicBezTo>
                  <a:lnTo>
                    <a:pt x="2991" y="2398"/>
                  </a:lnTo>
                  <a:cubicBezTo>
                    <a:pt x="2854" y="1713"/>
                    <a:pt x="2237" y="1188"/>
                    <a:pt x="1507" y="1188"/>
                  </a:cubicBezTo>
                  <a:cubicBezTo>
                    <a:pt x="685" y="1188"/>
                    <a:pt x="0" y="1873"/>
                    <a:pt x="0" y="2694"/>
                  </a:cubicBezTo>
                  <a:cubicBezTo>
                    <a:pt x="0" y="3539"/>
                    <a:pt x="685" y="4201"/>
                    <a:pt x="1507" y="4201"/>
                  </a:cubicBezTo>
                  <a:cubicBezTo>
                    <a:pt x="2237" y="4201"/>
                    <a:pt x="2854" y="3676"/>
                    <a:pt x="2991" y="2991"/>
                  </a:cubicBezTo>
                  <a:lnTo>
                    <a:pt x="22324" y="2991"/>
                  </a:lnTo>
                  <a:cubicBezTo>
                    <a:pt x="22598" y="4041"/>
                    <a:pt x="23533" y="4794"/>
                    <a:pt x="24652" y="4794"/>
                  </a:cubicBezTo>
                  <a:cubicBezTo>
                    <a:pt x="25976" y="4794"/>
                    <a:pt x="27048" y="3721"/>
                    <a:pt x="27048" y="2398"/>
                  </a:cubicBezTo>
                  <a:cubicBezTo>
                    <a:pt x="27048" y="1074"/>
                    <a:pt x="25976" y="1"/>
                    <a:pt x="246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8"/>
            <p:cNvSpPr/>
            <p:nvPr/>
          </p:nvSpPr>
          <p:spPr>
            <a:xfrm>
              <a:off x="5793225" y="3392450"/>
              <a:ext cx="750975" cy="150100"/>
            </a:xfrm>
            <a:custGeom>
              <a:avLst/>
              <a:gdLst/>
              <a:ahLst/>
              <a:cxnLst/>
              <a:rect l="l" t="t" r="r" b="b"/>
              <a:pathLst>
                <a:path w="30039" h="6004" extrusionOk="0">
                  <a:moveTo>
                    <a:pt x="2990" y="1"/>
                  </a:moveTo>
                  <a:cubicBezTo>
                    <a:pt x="1347" y="1"/>
                    <a:pt x="0" y="1347"/>
                    <a:pt x="0" y="2991"/>
                  </a:cubicBezTo>
                  <a:cubicBezTo>
                    <a:pt x="0" y="4657"/>
                    <a:pt x="1347" y="6004"/>
                    <a:pt x="2990" y="6004"/>
                  </a:cubicBezTo>
                  <a:cubicBezTo>
                    <a:pt x="4451" y="6004"/>
                    <a:pt x="5661" y="4977"/>
                    <a:pt x="5935" y="3607"/>
                  </a:cubicBezTo>
                  <a:lnTo>
                    <a:pt x="25314" y="3607"/>
                  </a:lnTo>
                  <a:cubicBezTo>
                    <a:pt x="25588" y="4634"/>
                    <a:pt x="26523" y="5410"/>
                    <a:pt x="27642" y="5410"/>
                  </a:cubicBezTo>
                  <a:cubicBezTo>
                    <a:pt x="28966" y="5410"/>
                    <a:pt x="30038" y="4337"/>
                    <a:pt x="30038" y="2991"/>
                  </a:cubicBezTo>
                  <a:cubicBezTo>
                    <a:pt x="30038" y="1667"/>
                    <a:pt x="28966" y="594"/>
                    <a:pt x="27642" y="594"/>
                  </a:cubicBezTo>
                  <a:cubicBezTo>
                    <a:pt x="26318" y="594"/>
                    <a:pt x="25245" y="1667"/>
                    <a:pt x="25245" y="2991"/>
                  </a:cubicBezTo>
                  <a:lnTo>
                    <a:pt x="6003" y="2991"/>
                  </a:lnTo>
                  <a:cubicBezTo>
                    <a:pt x="6003" y="1347"/>
                    <a:pt x="4657" y="1"/>
                    <a:pt x="299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8"/>
            <p:cNvSpPr/>
            <p:nvPr/>
          </p:nvSpPr>
          <p:spPr>
            <a:xfrm>
              <a:off x="5913050" y="3241800"/>
              <a:ext cx="616300" cy="150675"/>
            </a:xfrm>
            <a:custGeom>
              <a:avLst/>
              <a:gdLst/>
              <a:ahLst/>
              <a:cxnLst/>
              <a:rect l="l" t="t" r="r" b="b"/>
              <a:pathLst>
                <a:path w="24652" h="6027" extrusionOk="0">
                  <a:moveTo>
                    <a:pt x="3014" y="1"/>
                  </a:moveTo>
                  <a:cubicBezTo>
                    <a:pt x="1347" y="1"/>
                    <a:pt x="1" y="1348"/>
                    <a:pt x="1" y="3014"/>
                  </a:cubicBezTo>
                  <a:cubicBezTo>
                    <a:pt x="1" y="4680"/>
                    <a:pt x="1347" y="6027"/>
                    <a:pt x="3014" y="6027"/>
                  </a:cubicBezTo>
                  <a:cubicBezTo>
                    <a:pt x="4474" y="6027"/>
                    <a:pt x="5684" y="5000"/>
                    <a:pt x="5958" y="3607"/>
                  </a:cubicBezTo>
                  <a:lnTo>
                    <a:pt x="20543" y="3607"/>
                  </a:lnTo>
                  <a:cubicBezTo>
                    <a:pt x="20795" y="4497"/>
                    <a:pt x="21593" y="5114"/>
                    <a:pt x="22552" y="5114"/>
                  </a:cubicBezTo>
                  <a:cubicBezTo>
                    <a:pt x="23716" y="5114"/>
                    <a:pt x="24652" y="4178"/>
                    <a:pt x="24652" y="3014"/>
                  </a:cubicBezTo>
                  <a:cubicBezTo>
                    <a:pt x="24652" y="1850"/>
                    <a:pt x="23716" y="914"/>
                    <a:pt x="22552" y="914"/>
                  </a:cubicBezTo>
                  <a:cubicBezTo>
                    <a:pt x="21388" y="914"/>
                    <a:pt x="20452" y="1850"/>
                    <a:pt x="20452" y="3014"/>
                  </a:cubicBezTo>
                  <a:lnTo>
                    <a:pt x="6027" y="3014"/>
                  </a:lnTo>
                  <a:cubicBezTo>
                    <a:pt x="6027" y="1348"/>
                    <a:pt x="4680" y="1"/>
                    <a:pt x="301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8"/>
            <p:cNvSpPr/>
            <p:nvPr/>
          </p:nvSpPr>
          <p:spPr>
            <a:xfrm>
              <a:off x="6063700" y="3091725"/>
              <a:ext cx="405750" cy="180350"/>
            </a:xfrm>
            <a:custGeom>
              <a:avLst/>
              <a:gdLst/>
              <a:ahLst/>
              <a:cxnLst/>
              <a:rect l="l" t="t" r="r" b="b"/>
              <a:pathLst>
                <a:path w="16230" h="7214" extrusionOk="0">
                  <a:moveTo>
                    <a:pt x="3607" y="1"/>
                  </a:moveTo>
                  <a:cubicBezTo>
                    <a:pt x="1598" y="1"/>
                    <a:pt x="1" y="1621"/>
                    <a:pt x="1" y="3607"/>
                  </a:cubicBezTo>
                  <a:cubicBezTo>
                    <a:pt x="1" y="5593"/>
                    <a:pt x="1598" y="7214"/>
                    <a:pt x="3607" y="7214"/>
                  </a:cubicBezTo>
                  <a:cubicBezTo>
                    <a:pt x="5593" y="7214"/>
                    <a:pt x="7213" y="5593"/>
                    <a:pt x="7213" y="3607"/>
                  </a:cubicBezTo>
                  <a:lnTo>
                    <a:pt x="12029" y="3607"/>
                  </a:lnTo>
                  <a:cubicBezTo>
                    <a:pt x="12189" y="4634"/>
                    <a:pt x="13057" y="5410"/>
                    <a:pt x="14129" y="5410"/>
                  </a:cubicBezTo>
                  <a:cubicBezTo>
                    <a:pt x="15271" y="5410"/>
                    <a:pt x="16229" y="4475"/>
                    <a:pt x="16229" y="3310"/>
                  </a:cubicBezTo>
                  <a:cubicBezTo>
                    <a:pt x="16229" y="2146"/>
                    <a:pt x="15271" y="1211"/>
                    <a:pt x="14129" y="1211"/>
                  </a:cubicBezTo>
                  <a:cubicBezTo>
                    <a:pt x="13057" y="1211"/>
                    <a:pt x="12189" y="1987"/>
                    <a:pt x="12029" y="3014"/>
                  </a:cubicBezTo>
                  <a:lnTo>
                    <a:pt x="7145" y="3014"/>
                  </a:lnTo>
                  <a:cubicBezTo>
                    <a:pt x="6871" y="1302"/>
                    <a:pt x="5387" y="1"/>
                    <a:pt x="360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Schizophrenia (SCZ)</a:t>
            </a:r>
            <a:endParaRPr b="1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4" name="Google Shape;224;p41"/>
          <p:cNvSpPr txBox="1">
            <a:spLocks noGrp="1"/>
          </p:cNvSpPr>
          <p:nvPr>
            <p:ph type="subTitle" idx="1"/>
          </p:nvPr>
        </p:nvSpPr>
        <p:spPr>
          <a:xfrm>
            <a:off x="488138" y="2928830"/>
            <a:ext cx="4770662" cy="15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Almost entirely a mystery to the scientific community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Heritable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Gene Expression Array Comparisons elucidate potential candidate mechanism loci</a:t>
            </a:r>
          </a:p>
        </p:txBody>
      </p:sp>
      <p:sp>
        <p:nvSpPr>
          <p:cNvPr id="225" name="Google Shape;225;p41"/>
          <p:cNvSpPr/>
          <p:nvPr/>
        </p:nvSpPr>
        <p:spPr>
          <a:xfrm>
            <a:off x="713100" y="1112200"/>
            <a:ext cx="7717500" cy="61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41"/>
          <p:cNvSpPr/>
          <p:nvPr/>
        </p:nvSpPr>
        <p:spPr>
          <a:xfrm>
            <a:off x="4480250" y="-424626"/>
            <a:ext cx="5311449" cy="14745854"/>
          </a:xfrm>
          <a:custGeom>
            <a:avLst/>
            <a:gdLst/>
            <a:ahLst/>
            <a:cxnLst/>
            <a:rect l="l" t="t" r="r" b="b"/>
            <a:pathLst>
              <a:path w="16458" h="62862" extrusionOk="0">
                <a:moveTo>
                  <a:pt x="2214" y="1"/>
                </a:moveTo>
                <a:cubicBezTo>
                  <a:pt x="982" y="1"/>
                  <a:pt x="0" y="982"/>
                  <a:pt x="0" y="2215"/>
                </a:cubicBezTo>
                <a:cubicBezTo>
                  <a:pt x="0" y="3424"/>
                  <a:pt x="982" y="4406"/>
                  <a:pt x="2214" y="4406"/>
                </a:cubicBezTo>
                <a:lnTo>
                  <a:pt x="2534" y="4406"/>
                </a:lnTo>
                <a:lnTo>
                  <a:pt x="2534" y="56927"/>
                </a:lnTo>
                <a:cubicBezTo>
                  <a:pt x="2534" y="60214"/>
                  <a:pt x="5182" y="62861"/>
                  <a:pt x="8468" y="62861"/>
                </a:cubicBezTo>
                <a:cubicBezTo>
                  <a:pt x="11755" y="62861"/>
                  <a:pt x="14403" y="60214"/>
                  <a:pt x="14403" y="56927"/>
                </a:cubicBezTo>
                <a:lnTo>
                  <a:pt x="14403" y="4406"/>
                </a:lnTo>
                <a:cubicBezTo>
                  <a:pt x="15544" y="4337"/>
                  <a:pt x="16457" y="3379"/>
                  <a:pt x="16457" y="2215"/>
                </a:cubicBezTo>
                <a:cubicBezTo>
                  <a:pt x="16457" y="982"/>
                  <a:pt x="15476" y="1"/>
                  <a:pt x="1424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41"/>
          <p:cNvSpPr txBox="1">
            <a:spLocks noGrp="1"/>
          </p:cNvSpPr>
          <p:nvPr>
            <p:ph type="subTitle" idx="2"/>
          </p:nvPr>
        </p:nvSpPr>
        <p:spPr>
          <a:xfrm>
            <a:off x="116878" y="2047450"/>
            <a:ext cx="5141922" cy="8813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Archivo" panose="020B0604020202020204" charset="0"/>
                <a:ea typeface="Calibri" panose="020F0502020204030204" pitchFamily="34" charset="0"/>
                <a:cs typeface="Archivo" panose="020B0604020202020204" charset="0"/>
              </a:rPr>
              <a:t>“A server mental disorder, schizophrenia causes hallucinations and delusions leading to a significantly decreased quality of life”</a:t>
            </a:r>
            <a:endParaRPr lang="en-CA" dirty="0">
              <a:latin typeface="Archivo" panose="020B0604020202020204" charset="0"/>
              <a:cs typeface="Archivo" panose="020B0604020202020204" charset="0"/>
            </a:endParaRPr>
          </a:p>
        </p:txBody>
      </p:sp>
      <p:pic>
        <p:nvPicPr>
          <p:cNvPr id="1026" name="Picture 2" descr="Nine Myths About Schizophrenia">
            <a:extLst>
              <a:ext uri="{FF2B5EF4-FFF2-40B4-BE49-F238E27FC236}">
                <a16:creationId xmlns:a16="http://schemas.microsoft.com/office/drawing/2014/main" id="{95DC8AA9-7F60-4EE5-B9E9-E516E4FB9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1486304"/>
            <a:ext cx="3848099" cy="217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>
            <a:spLocks noGrp="1"/>
          </p:cNvSpPr>
          <p:nvPr>
            <p:ph type="title"/>
          </p:nvPr>
        </p:nvSpPr>
        <p:spPr>
          <a:xfrm>
            <a:off x="713250" y="539500"/>
            <a:ext cx="77175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Autism Spectrum Disorder (ASD)</a:t>
            </a: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41" name="Google Shape;241;p43"/>
          <p:cNvSpPr txBox="1">
            <a:spLocks noGrp="1"/>
          </p:cNvSpPr>
          <p:nvPr>
            <p:ph type="subTitle" idx="1"/>
          </p:nvPr>
        </p:nvSpPr>
        <p:spPr>
          <a:xfrm>
            <a:off x="713225" y="1557300"/>
            <a:ext cx="5372400" cy="277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Well studied neurological and developmental disorder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dirty="0"/>
              <a:t>Communication difficulties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dirty="0"/>
              <a:t>Repetitive behaviors and restrictive interests 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dirty="0"/>
              <a:t>Symptoms that affect all aspects of life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Aberrant interpretation of the world around them,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like Schizophrenia</a:t>
            </a:r>
            <a:endParaRPr b="1" dirty="0"/>
          </a:p>
        </p:txBody>
      </p:sp>
      <p:sp>
        <p:nvSpPr>
          <p:cNvPr id="242" name="Google Shape;242;p43"/>
          <p:cNvSpPr/>
          <p:nvPr/>
        </p:nvSpPr>
        <p:spPr>
          <a:xfrm>
            <a:off x="713100" y="1112200"/>
            <a:ext cx="7717500" cy="61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3"/>
          <p:cNvSpPr/>
          <p:nvPr/>
        </p:nvSpPr>
        <p:spPr>
          <a:xfrm>
            <a:off x="5285263" y="-4690023"/>
            <a:ext cx="6291037" cy="12042362"/>
          </a:xfrm>
          <a:custGeom>
            <a:avLst/>
            <a:gdLst/>
            <a:ahLst/>
            <a:cxnLst/>
            <a:rect l="l" t="t" r="r" b="b"/>
            <a:pathLst>
              <a:path w="20177" h="38623" extrusionOk="0">
                <a:moveTo>
                  <a:pt x="8071" y="1"/>
                </a:moveTo>
                <a:cubicBezTo>
                  <a:pt x="7645" y="1"/>
                  <a:pt x="7319" y="327"/>
                  <a:pt x="7319" y="753"/>
                </a:cubicBezTo>
                <a:lnTo>
                  <a:pt x="7319" y="23033"/>
                </a:lnTo>
                <a:lnTo>
                  <a:pt x="753" y="35515"/>
                </a:lnTo>
                <a:cubicBezTo>
                  <a:pt x="1" y="36918"/>
                  <a:pt x="1028" y="38623"/>
                  <a:pt x="2632" y="38623"/>
                </a:cubicBezTo>
                <a:lnTo>
                  <a:pt x="17570" y="38623"/>
                </a:lnTo>
                <a:cubicBezTo>
                  <a:pt x="19149" y="38623"/>
                  <a:pt x="20176" y="36918"/>
                  <a:pt x="19449" y="35515"/>
                </a:cubicBezTo>
                <a:lnTo>
                  <a:pt x="12883" y="23033"/>
                </a:lnTo>
                <a:lnTo>
                  <a:pt x="12883" y="753"/>
                </a:lnTo>
                <a:cubicBezTo>
                  <a:pt x="12883" y="327"/>
                  <a:pt x="12532" y="1"/>
                  <a:pt x="1213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Autism Spectrum Disorder | IV Ketamine">
            <a:extLst>
              <a:ext uri="{FF2B5EF4-FFF2-40B4-BE49-F238E27FC236}">
                <a16:creationId xmlns:a16="http://schemas.microsoft.com/office/drawing/2014/main" id="{26FB65B8-5410-42EE-8FC8-3F8B03477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500" y="1385575"/>
            <a:ext cx="2949425" cy="294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6"/>
          <p:cNvSpPr/>
          <p:nvPr/>
        </p:nvSpPr>
        <p:spPr>
          <a:xfrm rot="-5400000">
            <a:off x="4263899" y="-1703326"/>
            <a:ext cx="5311449" cy="14745854"/>
          </a:xfrm>
          <a:custGeom>
            <a:avLst/>
            <a:gdLst/>
            <a:ahLst/>
            <a:cxnLst/>
            <a:rect l="l" t="t" r="r" b="b"/>
            <a:pathLst>
              <a:path w="16458" h="62862" extrusionOk="0">
                <a:moveTo>
                  <a:pt x="2214" y="1"/>
                </a:moveTo>
                <a:cubicBezTo>
                  <a:pt x="982" y="1"/>
                  <a:pt x="0" y="982"/>
                  <a:pt x="0" y="2215"/>
                </a:cubicBezTo>
                <a:cubicBezTo>
                  <a:pt x="0" y="3424"/>
                  <a:pt x="982" y="4406"/>
                  <a:pt x="2214" y="4406"/>
                </a:cubicBezTo>
                <a:lnTo>
                  <a:pt x="2534" y="4406"/>
                </a:lnTo>
                <a:lnTo>
                  <a:pt x="2534" y="56927"/>
                </a:lnTo>
                <a:cubicBezTo>
                  <a:pt x="2534" y="60214"/>
                  <a:pt x="5182" y="62861"/>
                  <a:pt x="8468" y="62861"/>
                </a:cubicBezTo>
                <a:cubicBezTo>
                  <a:pt x="11755" y="62861"/>
                  <a:pt x="14403" y="60214"/>
                  <a:pt x="14403" y="56927"/>
                </a:cubicBezTo>
                <a:lnTo>
                  <a:pt x="14403" y="4406"/>
                </a:lnTo>
                <a:cubicBezTo>
                  <a:pt x="15544" y="4337"/>
                  <a:pt x="16457" y="3379"/>
                  <a:pt x="16457" y="2215"/>
                </a:cubicBezTo>
                <a:cubicBezTo>
                  <a:pt x="16457" y="982"/>
                  <a:pt x="15476" y="1"/>
                  <a:pt x="1424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5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/>
                <a:cs typeface="Archivo"/>
                <a:sym typeface="Archivo"/>
              </a:rPr>
              <a:t>PREVIOUS</a:t>
            </a:r>
            <a:r>
              <a:rPr lang="en" dirty="0"/>
              <a:t> STUDIES</a:t>
            </a:r>
            <a:endParaRPr b="1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6" name="Google Shape;546;p56"/>
          <p:cNvSpPr/>
          <p:nvPr/>
        </p:nvSpPr>
        <p:spPr>
          <a:xfrm>
            <a:off x="713100" y="1112200"/>
            <a:ext cx="7717800" cy="61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4199AF-73CD-4D87-A8AD-5C4E59FF2DB5}"/>
              </a:ext>
            </a:extLst>
          </p:cNvPr>
          <p:cNvSpPr txBox="1"/>
          <p:nvPr/>
        </p:nvSpPr>
        <p:spPr>
          <a:xfrm>
            <a:off x="713100" y="1287194"/>
            <a:ext cx="771762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Bipolar Disorder and Recurrent Major Depressive Disorder Gene Comparisons</a:t>
            </a:r>
          </a:p>
          <a:p>
            <a:endParaRPr lang="en-US" b="1" dirty="0">
              <a:latin typeface="Archivo" panose="020B0604020202020204" charset="0"/>
              <a:cs typeface="Archivo" panose="020B0604020202020204" charset="0"/>
            </a:endParaRPr>
          </a:p>
          <a:p>
            <a:pPr marL="285750" lvl="8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chivo" panose="020B0604020202020204" charset="0"/>
                <a:cs typeface="Archivo" panose="020B0604020202020204" charset="0"/>
              </a:rPr>
              <a:t>Revealed </a:t>
            </a:r>
            <a:r>
              <a:rPr lang="en-US" dirty="0">
                <a:effectLst/>
                <a:latin typeface="Archivo" panose="020B0604020202020204" charset="0"/>
                <a:ea typeface="Calibri" panose="020F0502020204030204" pitchFamily="34" charset="0"/>
                <a:cs typeface="Archivo" panose="020B0604020202020204" charset="0"/>
              </a:rPr>
              <a:t>FK506 binding protein, prostaglandin E synthase 3 and BCL2 associated </a:t>
            </a:r>
            <a:r>
              <a:rPr lang="en-US" dirty="0" err="1">
                <a:effectLst/>
                <a:latin typeface="Archivo" panose="020B0604020202020204" charset="0"/>
                <a:ea typeface="Calibri" panose="020F0502020204030204" pitchFamily="34" charset="0"/>
                <a:cs typeface="Archivo" panose="020B0604020202020204" charset="0"/>
              </a:rPr>
              <a:t>athanogene</a:t>
            </a:r>
            <a:r>
              <a:rPr lang="en-US" dirty="0">
                <a:effectLst/>
                <a:latin typeface="Archivo" panose="020B0604020202020204" charset="0"/>
                <a:ea typeface="Calibri" panose="020F0502020204030204" pitchFamily="34" charset="0"/>
                <a:cs typeface="Archivo" panose="020B0604020202020204" charset="0"/>
              </a:rPr>
              <a:t> 1 expression similarities to </a:t>
            </a:r>
            <a:r>
              <a:rPr lang="en-US" b="1" dirty="0">
                <a:effectLst/>
                <a:latin typeface="Archivo" panose="020B0604020202020204" charset="0"/>
                <a:ea typeface="Calibri" panose="020F0502020204030204" pitchFamily="34" charset="0"/>
                <a:cs typeface="Archivo" panose="020B0604020202020204" charset="0"/>
              </a:rPr>
              <a:t>SCZ</a:t>
            </a:r>
          </a:p>
          <a:p>
            <a:pPr marL="285750" lvl="8" indent="-285750">
              <a:buFont typeface="Courier New" panose="02070309020205020404" pitchFamily="49" charset="0"/>
              <a:buChar char="o"/>
            </a:pPr>
            <a:endParaRPr lang="en-US" b="1" dirty="0">
              <a:latin typeface="Archivo" panose="020B0604020202020204" charset="0"/>
              <a:cs typeface="Archivo" panose="020B0604020202020204" charset="0"/>
            </a:endParaRP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CA" b="0" i="0" dirty="0">
                <a:solidFill>
                  <a:srgbClr val="212121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Success in samples from prefrontal cortex, hippocampus, and cerebellum </a:t>
            </a:r>
            <a:endParaRPr lang="en-CA" b="1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CB60CB-AAED-4611-8A93-5F807E4FC588}"/>
              </a:ext>
            </a:extLst>
          </p:cNvPr>
          <p:cNvSpPr txBox="1"/>
          <p:nvPr/>
        </p:nvSpPr>
        <p:spPr>
          <a:xfrm>
            <a:off x="713100" y="4143033"/>
            <a:ext cx="7717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/>
            <a:r>
              <a:rPr lang="en-US" sz="3200" b="1" dirty="0">
                <a:latin typeface="Archivo" panose="020B0604020202020204" charset="0"/>
                <a:cs typeface="Archivo" panose="020B0604020202020204" charset="0"/>
              </a:rPr>
              <a:t>Can we do the same with ASD?</a:t>
            </a:r>
            <a:endParaRPr lang="en-CA" sz="3200" b="1" dirty="0">
              <a:latin typeface="Archivo" panose="020B0604020202020204" charset="0"/>
              <a:cs typeface="Archivo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>
            <a:spLocks noGrp="1"/>
          </p:cNvSpPr>
          <p:nvPr>
            <p:ph type="title"/>
          </p:nvPr>
        </p:nvSpPr>
        <p:spPr>
          <a:xfrm>
            <a:off x="3340350" y="1973250"/>
            <a:ext cx="5090400" cy="31702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chivo Black" panose="020B0604020202020204" charset="0"/>
                <a:ea typeface="Calibri" panose="020F0502020204030204" pitchFamily="34" charset="0"/>
                <a:cs typeface="Archivo Black" panose="020B0604020202020204" charset="0"/>
                <a:sym typeface="Wingdings" panose="05000000000000000000" pitchFamily="2" charset="2"/>
              </a:rPr>
              <a:t>	</a:t>
            </a:r>
            <a:r>
              <a:rPr lang="en-US" sz="1800" dirty="0">
                <a:effectLst/>
                <a:latin typeface="Archivo Black" panose="020B0604020202020204" charset="0"/>
                <a:ea typeface="Calibri" panose="020F0502020204030204" pitchFamily="34" charset="0"/>
                <a:cs typeface="Archivo Black" panose="020B0604020202020204" charset="0"/>
              </a:rPr>
              <a:t>Push the search for 	schizophrenia mechanisms 	using RNA-seq data and 	 	 autism spectrum disorder 	differential gene expression 	</a:t>
            </a:r>
            <a:r>
              <a:rPr lang="en-US" sz="1800" dirty="0">
                <a:latin typeface="Archivo Black" panose="020B0604020202020204" charset="0"/>
                <a:ea typeface="Calibri" panose="020F0502020204030204" pitchFamily="34" charset="0"/>
                <a:cs typeface="Archivo Black" panose="020B0604020202020204" charset="0"/>
              </a:rPr>
              <a:t>analysis</a:t>
            </a:r>
            <a:endParaRPr dirty="0">
              <a:latin typeface="Archivo Black" panose="020B0604020202020204" charset="0"/>
              <a:cs typeface="Archivo Black" panose="020B0604020202020204" charset="0"/>
            </a:endParaRPr>
          </a:p>
        </p:txBody>
      </p:sp>
      <p:sp>
        <p:nvSpPr>
          <p:cNvPr id="234" name="Google Shape;234;p42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6554350" cy="15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sp>
        <p:nvSpPr>
          <p:cNvPr id="235" name="Google Shape;235;p42"/>
          <p:cNvSpPr/>
          <p:nvPr/>
        </p:nvSpPr>
        <p:spPr>
          <a:xfrm>
            <a:off x="-881150" y="2107300"/>
            <a:ext cx="4079904" cy="8167457"/>
          </a:xfrm>
          <a:custGeom>
            <a:avLst/>
            <a:gdLst/>
            <a:ahLst/>
            <a:cxnLst/>
            <a:rect l="l" t="t" r="r" b="b"/>
            <a:pathLst>
              <a:path w="13334" h="26693" extrusionOk="0">
                <a:moveTo>
                  <a:pt x="8898" y="5565"/>
                </a:moveTo>
                <a:cubicBezTo>
                  <a:pt x="9249" y="5565"/>
                  <a:pt x="9524" y="5840"/>
                  <a:pt x="9524" y="6191"/>
                </a:cubicBezTo>
                <a:cubicBezTo>
                  <a:pt x="9524" y="6542"/>
                  <a:pt x="9249" y="6818"/>
                  <a:pt x="8898" y="6818"/>
                </a:cubicBezTo>
                <a:lnTo>
                  <a:pt x="6116" y="6818"/>
                </a:lnTo>
                <a:cubicBezTo>
                  <a:pt x="5765" y="6818"/>
                  <a:pt x="5489" y="6542"/>
                  <a:pt x="5489" y="6191"/>
                </a:cubicBezTo>
                <a:cubicBezTo>
                  <a:pt x="5489" y="5840"/>
                  <a:pt x="5765" y="5565"/>
                  <a:pt x="6116" y="5565"/>
                </a:cubicBezTo>
                <a:close/>
                <a:moveTo>
                  <a:pt x="8898" y="8898"/>
                </a:moveTo>
                <a:cubicBezTo>
                  <a:pt x="9249" y="8898"/>
                  <a:pt x="9524" y="9174"/>
                  <a:pt x="9524" y="9525"/>
                </a:cubicBezTo>
                <a:cubicBezTo>
                  <a:pt x="9524" y="9850"/>
                  <a:pt x="9249" y="10151"/>
                  <a:pt x="8898" y="10151"/>
                </a:cubicBezTo>
                <a:lnTo>
                  <a:pt x="6116" y="10151"/>
                </a:lnTo>
                <a:cubicBezTo>
                  <a:pt x="5765" y="10151"/>
                  <a:pt x="5489" y="9850"/>
                  <a:pt x="5489" y="9525"/>
                </a:cubicBezTo>
                <a:cubicBezTo>
                  <a:pt x="5489" y="9174"/>
                  <a:pt x="5765" y="8898"/>
                  <a:pt x="6116" y="8898"/>
                </a:cubicBezTo>
                <a:close/>
                <a:moveTo>
                  <a:pt x="8898" y="12206"/>
                </a:moveTo>
                <a:cubicBezTo>
                  <a:pt x="9249" y="12206"/>
                  <a:pt x="9524" y="12507"/>
                  <a:pt x="9524" y="12833"/>
                </a:cubicBezTo>
                <a:cubicBezTo>
                  <a:pt x="9524" y="13184"/>
                  <a:pt x="9249" y="13460"/>
                  <a:pt x="8898" y="13460"/>
                </a:cubicBezTo>
                <a:lnTo>
                  <a:pt x="6116" y="13460"/>
                </a:lnTo>
                <a:cubicBezTo>
                  <a:pt x="5765" y="13460"/>
                  <a:pt x="5489" y="13184"/>
                  <a:pt x="5489" y="12833"/>
                </a:cubicBezTo>
                <a:cubicBezTo>
                  <a:pt x="5489" y="12507"/>
                  <a:pt x="5765" y="12206"/>
                  <a:pt x="6116" y="12206"/>
                </a:cubicBezTo>
                <a:close/>
                <a:moveTo>
                  <a:pt x="8898" y="15540"/>
                </a:moveTo>
                <a:cubicBezTo>
                  <a:pt x="9249" y="15540"/>
                  <a:pt x="9524" y="15815"/>
                  <a:pt x="9524" y="16166"/>
                </a:cubicBezTo>
                <a:cubicBezTo>
                  <a:pt x="9524" y="16517"/>
                  <a:pt x="9249" y="16793"/>
                  <a:pt x="8898" y="16793"/>
                </a:cubicBezTo>
                <a:lnTo>
                  <a:pt x="6116" y="16793"/>
                </a:lnTo>
                <a:cubicBezTo>
                  <a:pt x="5765" y="16793"/>
                  <a:pt x="5489" y="16517"/>
                  <a:pt x="5489" y="16166"/>
                </a:cubicBezTo>
                <a:cubicBezTo>
                  <a:pt x="5489" y="15815"/>
                  <a:pt x="5765" y="15540"/>
                  <a:pt x="6116" y="15540"/>
                </a:cubicBezTo>
                <a:close/>
                <a:moveTo>
                  <a:pt x="8898" y="18873"/>
                </a:moveTo>
                <a:cubicBezTo>
                  <a:pt x="9249" y="18873"/>
                  <a:pt x="9524" y="19149"/>
                  <a:pt x="9524" y="19500"/>
                </a:cubicBezTo>
                <a:cubicBezTo>
                  <a:pt x="9524" y="19851"/>
                  <a:pt x="9249" y="20126"/>
                  <a:pt x="8898" y="20126"/>
                </a:cubicBezTo>
                <a:lnTo>
                  <a:pt x="6116" y="20126"/>
                </a:lnTo>
                <a:cubicBezTo>
                  <a:pt x="5765" y="20126"/>
                  <a:pt x="5489" y="19851"/>
                  <a:pt x="5489" y="19500"/>
                </a:cubicBezTo>
                <a:cubicBezTo>
                  <a:pt x="5489" y="19149"/>
                  <a:pt x="5765" y="18873"/>
                  <a:pt x="6116" y="18873"/>
                </a:cubicBezTo>
                <a:close/>
                <a:moveTo>
                  <a:pt x="8898" y="22206"/>
                </a:moveTo>
                <a:cubicBezTo>
                  <a:pt x="9249" y="22206"/>
                  <a:pt x="9524" y="22482"/>
                  <a:pt x="9524" y="22833"/>
                </a:cubicBezTo>
                <a:cubicBezTo>
                  <a:pt x="9524" y="23184"/>
                  <a:pt x="9249" y="23460"/>
                  <a:pt x="8898" y="23460"/>
                </a:cubicBezTo>
                <a:lnTo>
                  <a:pt x="6116" y="23460"/>
                </a:lnTo>
                <a:cubicBezTo>
                  <a:pt x="5765" y="23460"/>
                  <a:pt x="5489" y="23184"/>
                  <a:pt x="5489" y="22833"/>
                </a:cubicBezTo>
                <a:cubicBezTo>
                  <a:pt x="5489" y="22482"/>
                  <a:pt x="5765" y="22206"/>
                  <a:pt x="6116" y="22206"/>
                </a:cubicBezTo>
                <a:close/>
                <a:moveTo>
                  <a:pt x="0" y="1"/>
                </a:moveTo>
                <a:lnTo>
                  <a:pt x="0" y="26693"/>
                </a:lnTo>
                <a:lnTo>
                  <a:pt x="11579" y="26693"/>
                </a:lnTo>
                <a:lnTo>
                  <a:pt x="11579" y="2432"/>
                </a:lnTo>
                <a:lnTo>
                  <a:pt x="13334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45"/>
          <p:cNvGrpSpPr/>
          <p:nvPr/>
        </p:nvGrpSpPr>
        <p:grpSpPr>
          <a:xfrm>
            <a:off x="4937701" y="1501391"/>
            <a:ext cx="3493081" cy="3102606"/>
            <a:chOff x="6644304" y="3073628"/>
            <a:chExt cx="576302" cy="511871"/>
          </a:xfrm>
        </p:grpSpPr>
        <p:sp>
          <p:nvSpPr>
            <p:cNvPr id="257" name="Google Shape;257;p45"/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8" name="Google Shape;258;p45"/>
            <p:cNvGrpSpPr/>
            <p:nvPr/>
          </p:nvGrpSpPr>
          <p:grpSpPr>
            <a:xfrm>
              <a:off x="6712169" y="3085440"/>
              <a:ext cx="481622" cy="494913"/>
              <a:chOff x="6712169" y="3085440"/>
              <a:chExt cx="481622" cy="494913"/>
            </a:xfrm>
          </p:grpSpPr>
          <p:sp>
            <p:nvSpPr>
              <p:cNvPr id="259" name="Google Shape;259;p45"/>
              <p:cNvSpPr/>
              <p:nvPr/>
            </p:nvSpPr>
            <p:spPr>
              <a:xfrm>
                <a:off x="6712169" y="3085440"/>
                <a:ext cx="238757" cy="315615"/>
              </a:xfrm>
              <a:custGeom>
                <a:avLst/>
                <a:gdLst/>
                <a:ahLst/>
                <a:cxnLst/>
                <a:rect l="l" t="t" r="r" b="b"/>
                <a:pathLst>
                  <a:path w="41379" h="54723" extrusionOk="0">
                    <a:moveTo>
                      <a:pt x="20938" y="3904"/>
                    </a:moveTo>
                    <a:lnTo>
                      <a:pt x="22677" y="6583"/>
                    </a:lnTo>
                    <a:lnTo>
                      <a:pt x="22091" y="7097"/>
                    </a:lnTo>
                    <a:lnTo>
                      <a:pt x="18951" y="4400"/>
                    </a:lnTo>
                    <a:lnTo>
                      <a:pt x="20938" y="3904"/>
                    </a:lnTo>
                    <a:close/>
                    <a:moveTo>
                      <a:pt x="25072" y="0"/>
                    </a:moveTo>
                    <a:lnTo>
                      <a:pt x="25072" y="0"/>
                    </a:lnTo>
                    <a:cubicBezTo>
                      <a:pt x="24433" y="195"/>
                      <a:pt x="23812" y="408"/>
                      <a:pt x="23191" y="621"/>
                    </a:cubicBezTo>
                    <a:lnTo>
                      <a:pt x="23493" y="1047"/>
                    </a:lnTo>
                    <a:lnTo>
                      <a:pt x="21861" y="1136"/>
                    </a:lnTo>
                    <a:cubicBezTo>
                      <a:pt x="20920" y="1491"/>
                      <a:pt x="19980" y="1899"/>
                      <a:pt x="19075" y="2307"/>
                    </a:cubicBezTo>
                    <a:lnTo>
                      <a:pt x="17709" y="4489"/>
                    </a:lnTo>
                    <a:lnTo>
                      <a:pt x="19341" y="6778"/>
                    </a:lnTo>
                    <a:lnTo>
                      <a:pt x="19341" y="6778"/>
                    </a:lnTo>
                    <a:lnTo>
                      <a:pt x="16697" y="6086"/>
                    </a:lnTo>
                    <a:lnTo>
                      <a:pt x="17017" y="4542"/>
                    </a:lnTo>
                    <a:lnTo>
                      <a:pt x="15473" y="4205"/>
                    </a:lnTo>
                    <a:cubicBezTo>
                      <a:pt x="14124" y="4968"/>
                      <a:pt x="12811" y="5820"/>
                      <a:pt x="11552" y="6725"/>
                    </a:cubicBezTo>
                    <a:lnTo>
                      <a:pt x="12581" y="6920"/>
                    </a:lnTo>
                    <a:lnTo>
                      <a:pt x="11836" y="8091"/>
                    </a:lnTo>
                    <a:cubicBezTo>
                      <a:pt x="11392" y="7967"/>
                      <a:pt x="10842" y="7772"/>
                      <a:pt x="10363" y="7612"/>
                    </a:cubicBezTo>
                    <a:cubicBezTo>
                      <a:pt x="6300" y="10753"/>
                      <a:pt x="2804" y="14567"/>
                      <a:pt x="1" y="18897"/>
                    </a:cubicBezTo>
                    <a:cubicBezTo>
                      <a:pt x="356" y="19536"/>
                      <a:pt x="498" y="20299"/>
                      <a:pt x="373" y="21026"/>
                    </a:cubicBezTo>
                    <a:cubicBezTo>
                      <a:pt x="285" y="21895"/>
                      <a:pt x="870" y="22800"/>
                      <a:pt x="977" y="23723"/>
                    </a:cubicBezTo>
                    <a:cubicBezTo>
                      <a:pt x="1101" y="24681"/>
                      <a:pt x="835" y="25710"/>
                      <a:pt x="1048" y="26633"/>
                    </a:cubicBezTo>
                    <a:cubicBezTo>
                      <a:pt x="1580" y="28922"/>
                      <a:pt x="1651" y="28904"/>
                      <a:pt x="1314" y="30696"/>
                    </a:cubicBezTo>
                    <a:cubicBezTo>
                      <a:pt x="1260" y="30998"/>
                      <a:pt x="1243" y="31335"/>
                      <a:pt x="1189" y="31654"/>
                    </a:cubicBezTo>
                    <a:cubicBezTo>
                      <a:pt x="906" y="33943"/>
                      <a:pt x="852" y="36090"/>
                      <a:pt x="2378" y="38184"/>
                    </a:cubicBezTo>
                    <a:cubicBezTo>
                      <a:pt x="3194" y="39302"/>
                      <a:pt x="4490" y="39461"/>
                      <a:pt x="5217" y="40473"/>
                    </a:cubicBezTo>
                    <a:cubicBezTo>
                      <a:pt x="5377" y="41147"/>
                      <a:pt x="5679" y="41821"/>
                      <a:pt x="5679" y="42496"/>
                    </a:cubicBezTo>
                    <a:cubicBezTo>
                      <a:pt x="5679" y="43170"/>
                      <a:pt x="7311" y="43347"/>
                      <a:pt x="6406" y="44146"/>
                    </a:cubicBezTo>
                    <a:lnTo>
                      <a:pt x="8429" y="45122"/>
                    </a:lnTo>
                    <a:lnTo>
                      <a:pt x="8429" y="45122"/>
                    </a:lnTo>
                    <a:lnTo>
                      <a:pt x="8269" y="43170"/>
                    </a:lnTo>
                    <a:lnTo>
                      <a:pt x="8269" y="43170"/>
                    </a:lnTo>
                    <a:cubicBezTo>
                      <a:pt x="8872" y="43613"/>
                      <a:pt x="9298" y="43826"/>
                      <a:pt x="9600" y="44146"/>
                    </a:cubicBezTo>
                    <a:cubicBezTo>
                      <a:pt x="10345" y="44909"/>
                      <a:pt x="10948" y="45849"/>
                      <a:pt x="11765" y="46523"/>
                    </a:cubicBezTo>
                    <a:cubicBezTo>
                      <a:pt x="12652" y="47251"/>
                      <a:pt x="13734" y="47730"/>
                      <a:pt x="13255" y="49167"/>
                    </a:cubicBezTo>
                    <a:cubicBezTo>
                      <a:pt x="15142" y="50239"/>
                      <a:pt x="17068" y="51273"/>
                      <a:pt x="19240" y="51273"/>
                    </a:cubicBezTo>
                    <a:cubicBezTo>
                      <a:pt x="19621" y="51273"/>
                      <a:pt x="20009" y="51241"/>
                      <a:pt x="20406" y="51172"/>
                    </a:cubicBezTo>
                    <a:cubicBezTo>
                      <a:pt x="21066" y="51051"/>
                      <a:pt x="21687" y="50867"/>
                      <a:pt x="22299" y="50867"/>
                    </a:cubicBezTo>
                    <a:cubicBezTo>
                      <a:pt x="22856" y="50867"/>
                      <a:pt x="23406" y="51019"/>
                      <a:pt x="23972" y="51509"/>
                    </a:cubicBezTo>
                    <a:cubicBezTo>
                      <a:pt x="24575" y="52042"/>
                      <a:pt x="25551" y="52219"/>
                      <a:pt x="26403" y="52414"/>
                    </a:cubicBezTo>
                    <a:cubicBezTo>
                      <a:pt x="26412" y="52417"/>
                      <a:pt x="26421" y="52418"/>
                      <a:pt x="26431" y="52418"/>
                    </a:cubicBezTo>
                    <a:cubicBezTo>
                      <a:pt x="26612" y="52418"/>
                      <a:pt x="26911" y="51958"/>
                      <a:pt x="27130" y="51722"/>
                    </a:cubicBezTo>
                    <a:cubicBezTo>
                      <a:pt x="29563" y="53875"/>
                      <a:pt x="30553" y="54722"/>
                      <a:pt x="31970" y="54722"/>
                    </a:cubicBezTo>
                    <a:cubicBezTo>
                      <a:pt x="32888" y="54722"/>
                      <a:pt x="33985" y="54367"/>
                      <a:pt x="35771" y="53780"/>
                    </a:cubicBezTo>
                    <a:cubicBezTo>
                      <a:pt x="35754" y="53674"/>
                      <a:pt x="35736" y="53568"/>
                      <a:pt x="35700" y="53461"/>
                    </a:cubicBezTo>
                    <a:cubicBezTo>
                      <a:pt x="35026" y="53479"/>
                      <a:pt x="34387" y="53550"/>
                      <a:pt x="33731" y="53568"/>
                    </a:cubicBezTo>
                    <a:cubicBezTo>
                      <a:pt x="33590" y="53572"/>
                      <a:pt x="33456" y="53574"/>
                      <a:pt x="33329" y="53574"/>
                    </a:cubicBezTo>
                    <a:cubicBezTo>
                      <a:pt x="31461" y="53574"/>
                      <a:pt x="31079" y="53047"/>
                      <a:pt x="30697" y="50871"/>
                    </a:cubicBezTo>
                    <a:cubicBezTo>
                      <a:pt x="30590" y="50179"/>
                      <a:pt x="30005" y="49575"/>
                      <a:pt x="29650" y="48972"/>
                    </a:cubicBezTo>
                    <a:lnTo>
                      <a:pt x="26030" y="49628"/>
                    </a:lnTo>
                    <a:lnTo>
                      <a:pt x="26030" y="49628"/>
                    </a:lnTo>
                    <a:lnTo>
                      <a:pt x="26385" y="45406"/>
                    </a:lnTo>
                    <a:lnTo>
                      <a:pt x="24167" y="45956"/>
                    </a:lnTo>
                    <a:cubicBezTo>
                      <a:pt x="23812" y="46931"/>
                      <a:pt x="24007" y="48085"/>
                      <a:pt x="22553" y="48564"/>
                    </a:cubicBezTo>
                    <a:cubicBezTo>
                      <a:pt x="22259" y="48659"/>
                      <a:pt x="21992" y="48700"/>
                      <a:pt x="21745" y="48700"/>
                    </a:cubicBezTo>
                    <a:cubicBezTo>
                      <a:pt x="20706" y="48700"/>
                      <a:pt x="20016" y="47976"/>
                      <a:pt x="19199" y="47517"/>
                    </a:cubicBezTo>
                    <a:lnTo>
                      <a:pt x="17851" y="42123"/>
                    </a:lnTo>
                    <a:cubicBezTo>
                      <a:pt x="19459" y="40109"/>
                      <a:pt x="19754" y="39740"/>
                      <a:pt x="21393" y="39740"/>
                    </a:cubicBezTo>
                    <a:cubicBezTo>
                      <a:pt x="21761" y="39740"/>
                      <a:pt x="22197" y="39758"/>
                      <a:pt x="22730" y="39781"/>
                    </a:cubicBezTo>
                    <a:lnTo>
                      <a:pt x="22890" y="38237"/>
                    </a:lnTo>
                    <a:lnTo>
                      <a:pt x="27042" y="38113"/>
                    </a:lnTo>
                    <a:lnTo>
                      <a:pt x="30324" y="41786"/>
                    </a:lnTo>
                    <a:cubicBezTo>
                      <a:pt x="30679" y="39550"/>
                      <a:pt x="29064" y="38290"/>
                      <a:pt x="28532" y="36374"/>
                    </a:cubicBezTo>
                    <a:cubicBezTo>
                      <a:pt x="29366" y="35363"/>
                      <a:pt x="30324" y="34280"/>
                      <a:pt x="31229" y="33163"/>
                    </a:cubicBezTo>
                    <a:cubicBezTo>
                      <a:pt x="32045" y="32133"/>
                      <a:pt x="31974" y="31885"/>
                      <a:pt x="30644" y="30359"/>
                    </a:cubicBezTo>
                    <a:cubicBezTo>
                      <a:pt x="31105" y="29916"/>
                      <a:pt x="31886" y="29490"/>
                      <a:pt x="31957" y="28993"/>
                    </a:cubicBezTo>
                    <a:cubicBezTo>
                      <a:pt x="32152" y="27378"/>
                      <a:pt x="33411" y="26757"/>
                      <a:pt x="34441" y="25906"/>
                    </a:cubicBezTo>
                    <a:lnTo>
                      <a:pt x="34245" y="24273"/>
                    </a:lnTo>
                    <a:lnTo>
                      <a:pt x="36588" y="22996"/>
                    </a:lnTo>
                    <a:lnTo>
                      <a:pt x="37120" y="24096"/>
                    </a:lnTo>
                    <a:lnTo>
                      <a:pt x="40438" y="20849"/>
                    </a:lnTo>
                    <a:lnTo>
                      <a:pt x="40048" y="20387"/>
                    </a:lnTo>
                    <a:lnTo>
                      <a:pt x="38184" y="21700"/>
                    </a:lnTo>
                    <a:lnTo>
                      <a:pt x="36410" y="20547"/>
                    </a:lnTo>
                    <a:cubicBezTo>
                      <a:pt x="37315" y="19429"/>
                      <a:pt x="38309" y="18631"/>
                      <a:pt x="38752" y="17584"/>
                    </a:cubicBezTo>
                    <a:cubicBezTo>
                      <a:pt x="39285" y="16377"/>
                      <a:pt x="40686" y="16271"/>
                      <a:pt x="41378" y="15295"/>
                    </a:cubicBezTo>
                    <a:cubicBezTo>
                      <a:pt x="40314" y="14177"/>
                      <a:pt x="39285" y="13663"/>
                      <a:pt x="37989" y="13521"/>
                    </a:cubicBezTo>
                    <a:cubicBezTo>
                      <a:pt x="37031" y="13467"/>
                      <a:pt x="36162" y="12971"/>
                      <a:pt x="35647" y="12154"/>
                    </a:cubicBezTo>
                    <a:cubicBezTo>
                      <a:pt x="35257" y="11622"/>
                      <a:pt x="34813" y="11161"/>
                      <a:pt x="34281" y="10770"/>
                    </a:cubicBezTo>
                    <a:cubicBezTo>
                      <a:pt x="34068" y="10593"/>
                      <a:pt x="33678" y="10628"/>
                      <a:pt x="33323" y="10557"/>
                    </a:cubicBezTo>
                    <a:lnTo>
                      <a:pt x="32773" y="12509"/>
                    </a:lnTo>
                    <a:cubicBezTo>
                      <a:pt x="31022" y="12013"/>
                      <a:pt x="29978" y="9739"/>
                      <a:pt x="28235" y="9739"/>
                    </a:cubicBezTo>
                    <a:cubicBezTo>
                      <a:pt x="27735" y="9739"/>
                      <a:pt x="27176" y="9927"/>
                      <a:pt x="26527" y="10398"/>
                    </a:cubicBezTo>
                    <a:cubicBezTo>
                      <a:pt x="26793" y="11711"/>
                      <a:pt x="25942" y="13290"/>
                      <a:pt x="27343" y="14479"/>
                    </a:cubicBezTo>
                    <a:cubicBezTo>
                      <a:pt x="27538" y="14638"/>
                      <a:pt x="27609" y="15295"/>
                      <a:pt x="27485" y="15419"/>
                    </a:cubicBezTo>
                    <a:cubicBezTo>
                      <a:pt x="26154" y="16590"/>
                      <a:pt x="27095" y="18169"/>
                      <a:pt x="26935" y="19447"/>
                    </a:cubicBezTo>
                    <a:cubicBezTo>
                      <a:pt x="26757" y="19471"/>
                      <a:pt x="26594" y="19483"/>
                      <a:pt x="26444" y="19483"/>
                    </a:cubicBezTo>
                    <a:cubicBezTo>
                      <a:pt x="24534" y="19483"/>
                      <a:pt x="24803" y="17604"/>
                      <a:pt x="24309" y="16732"/>
                    </a:cubicBezTo>
                    <a:cubicBezTo>
                      <a:pt x="23538" y="16756"/>
                      <a:pt x="22881" y="16829"/>
                      <a:pt x="22272" y="16829"/>
                    </a:cubicBezTo>
                    <a:cubicBezTo>
                      <a:pt x="21985" y="16829"/>
                      <a:pt x="21708" y="16813"/>
                      <a:pt x="21435" y="16768"/>
                    </a:cubicBezTo>
                    <a:cubicBezTo>
                      <a:pt x="20583" y="16626"/>
                      <a:pt x="19767" y="16235"/>
                      <a:pt x="18968" y="15880"/>
                    </a:cubicBezTo>
                    <a:cubicBezTo>
                      <a:pt x="18099" y="15508"/>
                      <a:pt x="17904" y="14745"/>
                      <a:pt x="18117" y="13929"/>
                    </a:cubicBezTo>
                    <a:cubicBezTo>
                      <a:pt x="18489" y="12562"/>
                      <a:pt x="19820" y="11799"/>
                      <a:pt x="20317" y="10433"/>
                    </a:cubicBezTo>
                    <a:cubicBezTo>
                      <a:pt x="20420" y="10159"/>
                      <a:pt x="20643" y="10069"/>
                      <a:pt x="20926" y="10069"/>
                    </a:cubicBezTo>
                    <a:cubicBezTo>
                      <a:pt x="21466" y="10069"/>
                      <a:pt x="22224" y="10398"/>
                      <a:pt x="22783" y="10398"/>
                    </a:cubicBezTo>
                    <a:cubicBezTo>
                      <a:pt x="23422" y="10398"/>
                      <a:pt x="24078" y="10114"/>
                      <a:pt x="25445" y="9777"/>
                    </a:cubicBezTo>
                    <a:lnTo>
                      <a:pt x="22925" y="8836"/>
                    </a:lnTo>
                    <a:cubicBezTo>
                      <a:pt x="23351" y="8002"/>
                      <a:pt x="23759" y="7435"/>
                      <a:pt x="23972" y="6796"/>
                    </a:cubicBezTo>
                    <a:cubicBezTo>
                      <a:pt x="24489" y="5333"/>
                      <a:pt x="24808" y="4715"/>
                      <a:pt x="25467" y="4715"/>
                    </a:cubicBezTo>
                    <a:cubicBezTo>
                      <a:pt x="25870" y="4715"/>
                      <a:pt x="26401" y="4947"/>
                      <a:pt x="27184" y="5359"/>
                    </a:cubicBezTo>
                    <a:cubicBezTo>
                      <a:pt x="27485" y="5518"/>
                      <a:pt x="27787" y="5713"/>
                      <a:pt x="28177" y="5944"/>
                    </a:cubicBezTo>
                    <a:lnTo>
                      <a:pt x="26012" y="8694"/>
                    </a:lnTo>
                    <a:cubicBezTo>
                      <a:pt x="26754" y="8600"/>
                      <a:pt x="27262" y="8535"/>
                      <a:pt x="27696" y="8535"/>
                    </a:cubicBezTo>
                    <a:cubicBezTo>
                      <a:pt x="28642" y="8535"/>
                      <a:pt x="29231" y="8844"/>
                      <a:pt x="31105" y="9830"/>
                    </a:cubicBezTo>
                    <a:lnTo>
                      <a:pt x="32844" y="8304"/>
                    </a:lnTo>
                    <a:lnTo>
                      <a:pt x="31886" y="7346"/>
                    </a:lnTo>
                    <a:lnTo>
                      <a:pt x="32861" y="5341"/>
                    </a:lnTo>
                    <a:lnTo>
                      <a:pt x="25232" y="2005"/>
                    </a:lnTo>
                    <a:lnTo>
                      <a:pt x="21577" y="2733"/>
                    </a:lnTo>
                    <a:lnTo>
                      <a:pt x="21452" y="2218"/>
                    </a:lnTo>
                    <a:lnTo>
                      <a:pt x="24540" y="1437"/>
                    </a:lnTo>
                    <a:lnTo>
                      <a:pt x="2507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45"/>
              <p:cNvSpPr/>
              <p:nvPr/>
            </p:nvSpPr>
            <p:spPr>
              <a:xfrm>
                <a:off x="6913100" y="3367694"/>
                <a:ext cx="190537" cy="212659"/>
              </a:xfrm>
              <a:custGeom>
                <a:avLst/>
                <a:gdLst/>
                <a:ahLst/>
                <a:cxnLst/>
                <a:rect l="l" t="t" r="r" b="b"/>
                <a:pathLst>
                  <a:path w="33022" h="36872" extrusionOk="0">
                    <a:moveTo>
                      <a:pt x="11233" y="0"/>
                    </a:moveTo>
                    <a:cubicBezTo>
                      <a:pt x="10639" y="505"/>
                      <a:pt x="10418" y="1084"/>
                      <a:pt x="9687" y="1084"/>
                    </a:cubicBezTo>
                    <a:cubicBezTo>
                      <a:pt x="9544" y="1084"/>
                      <a:pt x="9381" y="1061"/>
                      <a:pt x="9192" y="1012"/>
                    </a:cubicBezTo>
                    <a:cubicBezTo>
                      <a:pt x="8542" y="845"/>
                      <a:pt x="7805" y="576"/>
                      <a:pt x="7089" y="576"/>
                    </a:cubicBezTo>
                    <a:cubicBezTo>
                      <a:pt x="6437" y="576"/>
                      <a:pt x="5804" y="799"/>
                      <a:pt x="5271" y="1526"/>
                    </a:cubicBezTo>
                    <a:lnTo>
                      <a:pt x="4632" y="231"/>
                    </a:lnTo>
                    <a:cubicBezTo>
                      <a:pt x="3940" y="1030"/>
                      <a:pt x="3780" y="2165"/>
                      <a:pt x="2591" y="2325"/>
                    </a:cubicBezTo>
                    <a:cubicBezTo>
                      <a:pt x="1208" y="2502"/>
                      <a:pt x="2538" y="4649"/>
                      <a:pt x="959" y="4844"/>
                    </a:cubicBezTo>
                    <a:lnTo>
                      <a:pt x="2006" y="8961"/>
                    </a:lnTo>
                    <a:lnTo>
                      <a:pt x="1" y="12190"/>
                    </a:lnTo>
                    <a:cubicBezTo>
                      <a:pt x="1190" y="12935"/>
                      <a:pt x="143" y="14302"/>
                      <a:pt x="640" y="15153"/>
                    </a:cubicBezTo>
                    <a:cubicBezTo>
                      <a:pt x="1882" y="15987"/>
                      <a:pt x="3071" y="16697"/>
                      <a:pt x="4135" y="17531"/>
                    </a:cubicBezTo>
                    <a:cubicBezTo>
                      <a:pt x="5058" y="18276"/>
                      <a:pt x="5732" y="19359"/>
                      <a:pt x="6726" y="19980"/>
                    </a:cubicBezTo>
                    <a:cubicBezTo>
                      <a:pt x="7808" y="20654"/>
                      <a:pt x="9121" y="20973"/>
                      <a:pt x="10044" y="21364"/>
                    </a:cubicBezTo>
                    <a:cubicBezTo>
                      <a:pt x="11250" y="25161"/>
                      <a:pt x="11587" y="28638"/>
                      <a:pt x="10878" y="32152"/>
                    </a:cubicBezTo>
                    <a:cubicBezTo>
                      <a:pt x="11091" y="32506"/>
                      <a:pt x="11623" y="32968"/>
                      <a:pt x="11605" y="33394"/>
                    </a:cubicBezTo>
                    <a:cubicBezTo>
                      <a:pt x="11552" y="34405"/>
                      <a:pt x="11605" y="35416"/>
                      <a:pt x="11783" y="36428"/>
                    </a:cubicBezTo>
                    <a:cubicBezTo>
                      <a:pt x="11800" y="36587"/>
                      <a:pt x="11836" y="36729"/>
                      <a:pt x="11871" y="36871"/>
                    </a:cubicBezTo>
                    <a:cubicBezTo>
                      <a:pt x="12634" y="36712"/>
                      <a:pt x="13379" y="36552"/>
                      <a:pt x="14125" y="36357"/>
                    </a:cubicBezTo>
                    <a:lnTo>
                      <a:pt x="14568" y="36233"/>
                    </a:lnTo>
                    <a:cubicBezTo>
                      <a:pt x="15172" y="34139"/>
                      <a:pt x="15828" y="32045"/>
                      <a:pt x="17798" y="30785"/>
                    </a:cubicBezTo>
                    <a:cubicBezTo>
                      <a:pt x="18543" y="30324"/>
                      <a:pt x="18951" y="29845"/>
                      <a:pt x="19235" y="29117"/>
                    </a:cubicBezTo>
                    <a:cubicBezTo>
                      <a:pt x="19377" y="28763"/>
                      <a:pt x="19465" y="28230"/>
                      <a:pt x="19732" y="28124"/>
                    </a:cubicBezTo>
                    <a:cubicBezTo>
                      <a:pt x="22233" y="27059"/>
                      <a:pt x="23334" y="24930"/>
                      <a:pt x="24008" y="22535"/>
                    </a:cubicBezTo>
                    <a:cubicBezTo>
                      <a:pt x="24345" y="21346"/>
                      <a:pt x="25232" y="20423"/>
                      <a:pt x="26403" y="20051"/>
                    </a:cubicBezTo>
                    <a:cubicBezTo>
                      <a:pt x="28550" y="19447"/>
                      <a:pt x="29065" y="17904"/>
                      <a:pt x="29615" y="16147"/>
                    </a:cubicBezTo>
                    <a:cubicBezTo>
                      <a:pt x="30449" y="13503"/>
                      <a:pt x="30999" y="10735"/>
                      <a:pt x="32844" y="8517"/>
                    </a:cubicBezTo>
                    <a:cubicBezTo>
                      <a:pt x="32933" y="8429"/>
                      <a:pt x="32986" y="8340"/>
                      <a:pt x="33021" y="8216"/>
                    </a:cubicBezTo>
                    <a:cubicBezTo>
                      <a:pt x="33021" y="7683"/>
                      <a:pt x="33021" y="7133"/>
                      <a:pt x="33021" y="6424"/>
                    </a:cubicBezTo>
                    <a:cubicBezTo>
                      <a:pt x="32898" y="6449"/>
                      <a:pt x="32778" y="6461"/>
                      <a:pt x="32662" y="6461"/>
                    </a:cubicBezTo>
                    <a:cubicBezTo>
                      <a:pt x="31610" y="6461"/>
                      <a:pt x="30838" y="5512"/>
                      <a:pt x="29835" y="5512"/>
                    </a:cubicBezTo>
                    <a:cubicBezTo>
                      <a:pt x="29647" y="5512"/>
                      <a:pt x="29450" y="5546"/>
                      <a:pt x="29242" y="5625"/>
                    </a:cubicBezTo>
                    <a:cubicBezTo>
                      <a:pt x="28763" y="5810"/>
                      <a:pt x="28295" y="5881"/>
                      <a:pt x="27833" y="5881"/>
                    </a:cubicBezTo>
                    <a:cubicBezTo>
                      <a:pt x="27010" y="5881"/>
                      <a:pt x="26203" y="5659"/>
                      <a:pt x="25374" y="5465"/>
                    </a:cubicBezTo>
                    <a:cubicBezTo>
                      <a:pt x="25322" y="5454"/>
                      <a:pt x="25270" y="5449"/>
                      <a:pt x="25215" y="5449"/>
                    </a:cubicBezTo>
                    <a:cubicBezTo>
                      <a:pt x="24767" y="5449"/>
                      <a:pt x="24231" y="5812"/>
                      <a:pt x="23582" y="6033"/>
                    </a:cubicBezTo>
                    <a:lnTo>
                      <a:pt x="20637" y="2112"/>
                    </a:lnTo>
                    <a:lnTo>
                      <a:pt x="16467" y="2201"/>
                    </a:lnTo>
                    <a:lnTo>
                      <a:pt x="1123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45"/>
              <p:cNvSpPr/>
              <p:nvPr/>
            </p:nvSpPr>
            <p:spPr>
              <a:xfrm>
                <a:off x="7135734" y="3186037"/>
                <a:ext cx="58058" cy="152383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26421" extrusionOk="0">
                    <a:moveTo>
                      <a:pt x="2520" y="1"/>
                    </a:moveTo>
                    <a:lnTo>
                      <a:pt x="2254" y="19"/>
                    </a:lnTo>
                    <a:cubicBezTo>
                      <a:pt x="2077" y="515"/>
                      <a:pt x="2041" y="1474"/>
                      <a:pt x="1545" y="1864"/>
                    </a:cubicBezTo>
                    <a:cubicBezTo>
                      <a:pt x="107" y="3035"/>
                      <a:pt x="214" y="4401"/>
                      <a:pt x="586" y="5927"/>
                    </a:cubicBezTo>
                    <a:cubicBezTo>
                      <a:pt x="746" y="6566"/>
                      <a:pt x="1012" y="7311"/>
                      <a:pt x="835" y="7897"/>
                    </a:cubicBezTo>
                    <a:cubicBezTo>
                      <a:pt x="1" y="10523"/>
                      <a:pt x="799" y="13202"/>
                      <a:pt x="72" y="15917"/>
                    </a:cubicBezTo>
                    <a:lnTo>
                      <a:pt x="1686" y="15846"/>
                    </a:lnTo>
                    <a:cubicBezTo>
                      <a:pt x="1811" y="17177"/>
                      <a:pt x="2698" y="18241"/>
                      <a:pt x="1970" y="19590"/>
                    </a:cubicBezTo>
                    <a:cubicBezTo>
                      <a:pt x="1740" y="20051"/>
                      <a:pt x="2024" y="21293"/>
                      <a:pt x="2414" y="21506"/>
                    </a:cubicBezTo>
                    <a:cubicBezTo>
                      <a:pt x="4596" y="22642"/>
                      <a:pt x="4632" y="25587"/>
                      <a:pt x="6885" y="26421"/>
                    </a:cubicBezTo>
                    <a:lnTo>
                      <a:pt x="10061" y="24079"/>
                    </a:lnTo>
                    <a:cubicBezTo>
                      <a:pt x="9973" y="15491"/>
                      <a:pt x="7364" y="7098"/>
                      <a:pt x="25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45"/>
              <p:cNvSpPr/>
              <p:nvPr/>
            </p:nvSpPr>
            <p:spPr>
              <a:xfrm>
                <a:off x="6870416" y="3332822"/>
                <a:ext cx="47510" cy="11685"/>
              </a:xfrm>
              <a:custGeom>
                <a:avLst/>
                <a:gdLst/>
                <a:ahLst/>
                <a:cxnLst/>
                <a:rect l="l" t="t" r="r" b="b"/>
                <a:pathLst>
                  <a:path w="8234" h="2026" extrusionOk="0">
                    <a:moveTo>
                      <a:pt x="3405" y="1"/>
                    </a:moveTo>
                    <a:cubicBezTo>
                      <a:pt x="2255" y="1"/>
                      <a:pt x="1201" y="655"/>
                      <a:pt x="1" y="919"/>
                    </a:cubicBezTo>
                    <a:cubicBezTo>
                      <a:pt x="371" y="1711"/>
                      <a:pt x="675" y="1974"/>
                      <a:pt x="943" y="1974"/>
                    </a:cubicBezTo>
                    <a:cubicBezTo>
                      <a:pt x="1419" y="1974"/>
                      <a:pt x="1781" y="1142"/>
                      <a:pt x="2201" y="972"/>
                    </a:cubicBezTo>
                    <a:cubicBezTo>
                      <a:pt x="2266" y="967"/>
                      <a:pt x="2330" y="964"/>
                      <a:pt x="2394" y="964"/>
                    </a:cubicBezTo>
                    <a:cubicBezTo>
                      <a:pt x="3717" y="964"/>
                      <a:pt x="4976" y="2025"/>
                      <a:pt x="6356" y="2025"/>
                    </a:cubicBezTo>
                    <a:cubicBezTo>
                      <a:pt x="6954" y="2025"/>
                      <a:pt x="7575" y="1826"/>
                      <a:pt x="8234" y="1256"/>
                    </a:cubicBezTo>
                    <a:cubicBezTo>
                      <a:pt x="7932" y="936"/>
                      <a:pt x="7684" y="440"/>
                      <a:pt x="7400" y="422"/>
                    </a:cubicBezTo>
                    <a:cubicBezTo>
                      <a:pt x="7374" y="421"/>
                      <a:pt x="7348" y="420"/>
                      <a:pt x="7322" y="420"/>
                    </a:cubicBezTo>
                    <a:cubicBezTo>
                      <a:pt x="6763" y="420"/>
                      <a:pt x="6090" y="679"/>
                      <a:pt x="5591" y="679"/>
                    </a:cubicBezTo>
                    <a:cubicBezTo>
                      <a:pt x="5418" y="679"/>
                      <a:pt x="5266" y="648"/>
                      <a:pt x="5147" y="564"/>
                    </a:cubicBezTo>
                    <a:cubicBezTo>
                      <a:pt x="4527" y="150"/>
                      <a:pt x="3955" y="1"/>
                      <a:pt x="34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45"/>
              <p:cNvSpPr/>
              <p:nvPr/>
            </p:nvSpPr>
            <p:spPr>
              <a:xfrm>
                <a:off x="6925590" y="3336277"/>
                <a:ext cx="38094" cy="14228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467" extrusionOk="0">
                    <a:moveTo>
                      <a:pt x="6601" y="0"/>
                    </a:moveTo>
                    <a:cubicBezTo>
                      <a:pt x="4188" y="231"/>
                      <a:pt x="2254" y="391"/>
                      <a:pt x="338" y="604"/>
                    </a:cubicBezTo>
                    <a:cubicBezTo>
                      <a:pt x="231" y="621"/>
                      <a:pt x="160" y="976"/>
                      <a:pt x="1" y="1384"/>
                    </a:cubicBezTo>
                    <a:lnTo>
                      <a:pt x="1438" y="2467"/>
                    </a:lnTo>
                    <a:cubicBezTo>
                      <a:pt x="2573" y="621"/>
                      <a:pt x="4862" y="1491"/>
                      <a:pt x="66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4" name="Google Shape;264;p45"/>
            <p:cNvSpPr/>
            <p:nvPr/>
          </p:nvSpPr>
          <p:spPr>
            <a:xfrm>
              <a:off x="6867451" y="3073651"/>
              <a:ext cx="102383" cy="56919"/>
            </a:xfrm>
            <a:custGeom>
              <a:avLst/>
              <a:gdLst/>
              <a:ahLst/>
              <a:cxnLst/>
              <a:rect l="l" t="t" r="r" b="b"/>
              <a:pathLst>
                <a:path w="17744" h="9869" extrusionOk="0">
                  <a:moveTo>
                    <a:pt x="11775" y="1"/>
                  </a:moveTo>
                  <a:cubicBezTo>
                    <a:pt x="7969" y="1"/>
                    <a:pt x="4175" y="474"/>
                    <a:pt x="479" y="1405"/>
                  </a:cubicBezTo>
                  <a:lnTo>
                    <a:pt x="0" y="1530"/>
                  </a:lnTo>
                  <a:cubicBezTo>
                    <a:pt x="266" y="1749"/>
                    <a:pt x="570" y="1886"/>
                    <a:pt x="955" y="1886"/>
                  </a:cubicBezTo>
                  <a:cubicBezTo>
                    <a:pt x="1161" y="1886"/>
                    <a:pt x="1391" y="1847"/>
                    <a:pt x="1651" y="1760"/>
                  </a:cubicBezTo>
                  <a:cubicBezTo>
                    <a:pt x="2029" y="1630"/>
                    <a:pt x="2392" y="1564"/>
                    <a:pt x="2739" y="1564"/>
                  </a:cubicBezTo>
                  <a:cubicBezTo>
                    <a:pt x="3580" y="1564"/>
                    <a:pt x="4337" y="1950"/>
                    <a:pt x="5040" y="2754"/>
                  </a:cubicBezTo>
                  <a:cubicBezTo>
                    <a:pt x="5749" y="3588"/>
                    <a:pt x="7204" y="3428"/>
                    <a:pt x="7967" y="4422"/>
                  </a:cubicBezTo>
                  <a:cubicBezTo>
                    <a:pt x="8017" y="4486"/>
                    <a:pt x="8125" y="4504"/>
                    <a:pt x="8257" y="4504"/>
                  </a:cubicBezTo>
                  <a:cubicBezTo>
                    <a:pt x="8429" y="4504"/>
                    <a:pt x="8642" y="4473"/>
                    <a:pt x="8821" y="4473"/>
                  </a:cubicBezTo>
                  <a:cubicBezTo>
                    <a:pt x="8844" y="4473"/>
                    <a:pt x="8868" y="4474"/>
                    <a:pt x="8890" y="4475"/>
                  </a:cubicBezTo>
                  <a:lnTo>
                    <a:pt x="8233" y="6054"/>
                  </a:lnTo>
                  <a:cubicBezTo>
                    <a:pt x="9475" y="6533"/>
                    <a:pt x="11019" y="6640"/>
                    <a:pt x="11605" y="7420"/>
                  </a:cubicBezTo>
                  <a:cubicBezTo>
                    <a:pt x="13095" y="9479"/>
                    <a:pt x="15065" y="9745"/>
                    <a:pt x="17744" y="9869"/>
                  </a:cubicBezTo>
                  <a:cubicBezTo>
                    <a:pt x="17105" y="8982"/>
                    <a:pt x="16271" y="8325"/>
                    <a:pt x="16342" y="7828"/>
                  </a:cubicBezTo>
                  <a:cubicBezTo>
                    <a:pt x="16502" y="6888"/>
                    <a:pt x="16892" y="6125"/>
                    <a:pt x="15632" y="5717"/>
                  </a:cubicBezTo>
                  <a:lnTo>
                    <a:pt x="16857" y="4706"/>
                  </a:lnTo>
                  <a:lnTo>
                    <a:pt x="16484" y="3215"/>
                  </a:lnTo>
                  <a:cubicBezTo>
                    <a:pt x="16786" y="3073"/>
                    <a:pt x="17123" y="3002"/>
                    <a:pt x="17336" y="2772"/>
                  </a:cubicBezTo>
                  <a:cubicBezTo>
                    <a:pt x="17531" y="2559"/>
                    <a:pt x="17549" y="2222"/>
                    <a:pt x="17744" y="1689"/>
                  </a:cubicBezTo>
                  <a:cubicBezTo>
                    <a:pt x="16928" y="1441"/>
                    <a:pt x="16218" y="1281"/>
                    <a:pt x="15579" y="660"/>
                  </a:cubicBezTo>
                  <a:cubicBezTo>
                    <a:pt x="15384" y="465"/>
                    <a:pt x="15171" y="270"/>
                    <a:pt x="14940" y="110"/>
                  </a:cubicBezTo>
                  <a:cubicBezTo>
                    <a:pt x="13885" y="37"/>
                    <a:pt x="12830" y="1"/>
                    <a:pt x="11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5"/>
            <p:cNvSpPr/>
            <p:nvPr/>
          </p:nvSpPr>
          <p:spPr>
            <a:xfrm>
              <a:off x="7069097" y="3119476"/>
              <a:ext cx="78535" cy="76898"/>
            </a:xfrm>
            <a:custGeom>
              <a:avLst/>
              <a:gdLst/>
              <a:ahLst/>
              <a:cxnLst/>
              <a:rect l="l" t="t" r="r" b="b"/>
              <a:pathLst>
                <a:path w="13611" h="13333" extrusionOk="0">
                  <a:moveTo>
                    <a:pt x="1947" y="1"/>
                  </a:moveTo>
                  <a:cubicBezTo>
                    <a:pt x="1321" y="1"/>
                    <a:pt x="678" y="263"/>
                    <a:pt x="1" y="842"/>
                  </a:cubicBezTo>
                  <a:lnTo>
                    <a:pt x="1420" y="2634"/>
                  </a:lnTo>
                  <a:lnTo>
                    <a:pt x="5856" y="2829"/>
                  </a:lnTo>
                  <a:lnTo>
                    <a:pt x="5342" y="5224"/>
                  </a:lnTo>
                  <a:lnTo>
                    <a:pt x="8802" y="7105"/>
                  </a:lnTo>
                  <a:lnTo>
                    <a:pt x="7453" y="8702"/>
                  </a:lnTo>
                  <a:lnTo>
                    <a:pt x="9884" y="12925"/>
                  </a:lnTo>
                  <a:lnTo>
                    <a:pt x="12386" y="13333"/>
                  </a:lnTo>
                  <a:cubicBezTo>
                    <a:pt x="11889" y="12109"/>
                    <a:pt x="13610" y="10813"/>
                    <a:pt x="11694" y="9891"/>
                  </a:cubicBezTo>
                  <a:cubicBezTo>
                    <a:pt x="11605" y="9181"/>
                    <a:pt x="11232" y="8436"/>
                    <a:pt x="11179" y="7726"/>
                  </a:cubicBezTo>
                  <a:cubicBezTo>
                    <a:pt x="8713" y="4852"/>
                    <a:pt x="5892" y="2297"/>
                    <a:pt x="2769" y="150"/>
                  </a:cubicBezTo>
                  <a:cubicBezTo>
                    <a:pt x="2497" y="52"/>
                    <a:pt x="2224" y="1"/>
                    <a:pt x="1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5"/>
            <p:cNvSpPr/>
            <p:nvPr/>
          </p:nvSpPr>
          <p:spPr>
            <a:xfrm>
              <a:off x="6946266" y="3181844"/>
              <a:ext cx="21095" cy="14742"/>
            </a:xfrm>
            <a:custGeom>
              <a:avLst/>
              <a:gdLst/>
              <a:ahLst/>
              <a:cxnLst/>
              <a:rect l="l" t="t" r="r" b="b"/>
              <a:pathLst>
                <a:path w="3656" h="2556" extrusionOk="0">
                  <a:moveTo>
                    <a:pt x="498" y="0"/>
                  </a:moveTo>
                  <a:cubicBezTo>
                    <a:pt x="444" y="426"/>
                    <a:pt x="373" y="852"/>
                    <a:pt x="302" y="1278"/>
                  </a:cubicBezTo>
                  <a:cubicBezTo>
                    <a:pt x="231" y="1686"/>
                    <a:pt x="107" y="2076"/>
                    <a:pt x="1" y="2555"/>
                  </a:cubicBezTo>
                  <a:lnTo>
                    <a:pt x="3656" y="2467"/>
                  </a:lnTo>
                  <a:lnTo>
                    <a:pt x="3319" y="1100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4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AIMS</a:t>
            </a:r>
            <a:endParaRPr dirty="0"/>
          </a:p>
        </p:txBody>
      </p:sp>
      <p:sp>
        <p:nvSpPr>
          <p:cNvPr id="271" name="Google Shape;271;p45"/>
          <p:cNvSpPr txBox="1">
            <a:spLocks noGrp="1"/>
          </p:cNvSpPr>
          <p:nvPr>
            <p:ph type="subTitle" idx="4294967295"/>
          </p:nvPr>
        </p:nvSpPr>
        <p:spPr>
          <a:xfrm>
            <a:off x="1435355" y="3553598"/>
            <a:ext cx="3650020" cy="8508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Archivo" panose="020B0604020202020204" charset="0"/>
                <a:ea typeface="Calibri" panose="020F0502020204030204" pitchFamily="34" charset="0"/>
                <a:cs typeface="Archivo" panose="020B0604020202020204" charset="0"/>
              </a:rPr>
              <a:t>I</a:t>
            </a:r>
            <a:r>
              <a:rPr lang="en-US" sz="1400" dirty="0">
                <a:effectLst/>
                <a:latin typeface="Archivo" panose="020B0604020202020204" charset="0"/>
                <a:ea typeface="Calibri" panose="020F0502020204030204" pitchFamily="34" charset="0"/>
                <a:cs typeface="Archivo" panose="020B0604020202020204" charset="0"/>
              </a:rPr>
              <a:t>dentify common regions in the transcriptome that have the same expression levels to each other and different from controls</a:t>
            </a:r>
            <a:endParaRPr sz="14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72" name="Google Shape;272;p45"/>
          <p:cNvSpPr txBox="1">
            <a:spLocks noGrp="1"/>
          </p:cNvSpPr>
          <p:nvPr>
            <p:ph type="subTitle" idx="4294967295"/>
          </p:nvPr>
        </p:nvSpPr>
        <p:spPr>
          <a:xfrm>
            <a:off x="1435355" y="3179626"/>
            <a:ext cx="30471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latin typeface="Archivo Black"/>
                <a:ea typeface="Archivo Black"/>
                <a:cs typeface="Archivo Black"/>
                <a:sym typeface="Archivo Black"/>
              </a:rPr>
              <a:t>Goal 2)</a:t>
            </a:r>
            <a:endParaRPr dirty="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75" name="Google Shape;275;p45"/>
          <p:cNvSpPr txBox="1">
            <a:spLocks noGrp="1"/>
          </p:cNvSpPr>
          <p:nvPr>
            <p:ph type="subTitle" idx="4294967295"/>
          </p:nvPr>
        </p:nvSpPr>
        <p:spPr>
          <a:xfrm>
            <a:off x="1475225" y="2085298"/>
            <a:ext cx="3047100" cy="5466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 dirty="0"/>
              <a:t>Currate dataset of both samples types and controls</a:t>
            </a:r>
            <a:endParaRPr sz="1400" dirty="0"/>
          </a:p>
        </p:txBody>
      </p:sp>
      <p:sp>
        <p:nvSpPr>
          <p:cNvPr id="276" name="Google Shape;276;p45"/>
          <p:cNvSpPr txBox="1">
            <a:spLocks noGrp="1"/>
          </p:cNvSpPr>
          <p:nvPr>
            <p:ph type="subTitle" idx="4294967295"/>
          </p:nvPr>
        </p:nvSpPr>
        <p:spPr>
          <a:xfrm>
            <a:off x="1475225" y="1711325"/>
            <a:ext cx="30471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latin typeface="Archivo Black"/>
                <a:ea typeface="Archivo Black"/>
                <a:cs typeface="Archivo Black"/>
                <a:sym typeface="Archivo Black"/>
              </a:rPr>
              <a:t>Goal 1)</a:t>
            </a:r>
            <a:endParaRPr dirty="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77" name="Google Shape;277;p45"/>
          <p:cNvSpPr/>
          <p:nvPr/>
        </p:nvSpPr>
        <p:spPr>
          <a:xfrm>
            <a:off x="713250" y="1112200"/>
            <a:ext cx="7717500" cy="61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5"/>
          <p:cNvSpPr/>
          <p:nvPr/>
        </p:nvSpPr>
        <p:spPr>
          <a:xfrm>
            <a:off x="713225" y="1774825"/>
            <a:ext cx="572700" cy="5727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45"/>
          <p:cNvSpPr/>
          <p:nvPr/>
        </p:nvSpPr>
        <p:spPr>
          <a:xfrm>
            <a:off x="673355" y="3250538"/>
            <a:ext cx="572700" cy="5727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48"/>
          <p:cNvGrpSpPr/>
          <p:nvPr/>
        </p:nvGrpSpPr>
        <p:grpSpPr>
          <a:xfrm>
            <a:off x="682475" y="2064600"/>
            <a:ext cx="8461650" cy="1014300"/>
            <a:chOff x="682475" y="2064600"/>
            <a:chExt cx="8461650" cy="1014300"/>
          </a:xfrm>
        </p:grpSpPr>
        <p:sp>
          <p:nvSpPr>
            <p:cNvPr id="326" name="Google Shape;326;p48"/>
            <p:cNvSpPr/>
            <p:nvPr/>
          </p:nvSpPr>
          <p:spPr>
            <a:xfrm>
              <a:off x="713225" y="2541000"/>
              <a:ext cx="8430900" cy="61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8"/>
            <p:cNvSpPr/>
            <p:nvPr/>
          </p:nvSpPr>
          <p:spPr>
            <a:xfrm>
              <a:off x="1780000" y="2064600"/>
              <a:ext cx="1014300" cy="10143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8"/>
            <p:cNvSpPr/>
            <p:nvPr/>
          </p:nvSpPr>
          <p:spPr>
            <a:xfrm>
              <a:off x="4064850" y="2064600"/>
              <a:ext cx="1014300" cy="10143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8"/>
            <p:cNvSpPr/>
            <p:nvPr/>
          </p:nvSpPr>
          <p:spPr>
            <a:xfrm>
              <a:off x="6349700" y="2064600"/>
              <a:ext cx="1014300" cy="10143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8"/>
            <p:cNvSpPr/>
            <p:nvPr/>
          </p:nvSpPr>
          <p:spPr>
            <a:xfrm rot="-5400000">
              <a:off x="467225" y="2541000"/>
              <a:ext cx="492000" cy="61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" name="Google Shape;331;p4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METHODOLGY</a:t>
            </a:r>
            <a:endParaRPr dirty="0">
              <a:latin typeface="Archivo Black" panose="020B0604020202020204" charset="0"/>
              <a:cs typeface="Archivo Black" panose="020B0604020202020204" charset="0"/>
            </a:endParaRPr>
          </a:p>
        </p:txBody>
      </p:sp>
      <p:sp>
        <p:nvSpPr>
          <p:cNvPr id="332" name="Google Shape;332;p48"/>
          <p:cNvSpPr txBox="1"/>
          <p:nvPr/>
        </p:nvSpPr>
        <p:spPr>
          <a:xfrm>
            <a:off x="1780000" y="2371650"/>
            <a:ext cx="101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  <a:endParaRPr sz="18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4064850" y="2371650"/>
            <a:ext cx="101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  <a:endParaRPr sz="18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34" name="Google Shape;334;p48"/>
          <p:cNvSpPr txBox="1"/>
          <p:nvPr/>
        </p:nvSpPr>
        <p:spPr>
          <a:xfrm>
            <a:off x="6349700" y="2371650"/>
            <a:ext cx="101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  <a:endParaRPr sz="18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35" name="Google Shape;335;p48"/>
          <p:cNvSpPr txBox="1">
            <a:spLocks noGrp="1"/>
          </p:cNvSpPr>
          <p:nvPr>
            <p:ph type="subTitle" idx="4294967295"/>
          </p:nvPr>
        </p:nvSpPr>
        <p:spPr>
          <a:xfrm>
            <a:off x="1363001" y="3729225"/>
            <a:ext cx="1431300" cy="6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400" dirty="0">
                <a:solidFill>
                  <a:schemeClr val="lt1"/>
                </a:solidFill>
              </a:rPr>
              <a:t>- SCZ</a:t>
            </a:r>
          </a:p>
          <a:p>
            <a:pPr marL="28575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400" dirty="0">
                <a:solidFill>
                  <a:schemeClr val="lt1"/>
                </a:solidFill>
              </a:rPr>
              <a:t>- ASD</a:t>
            </a:r>
          </a:p>
          <a:p>
            <a:pPr marL="28575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400" dirty="0">
                <a:solidFill>
                  <a:schemeClr val="lt1"/>
                </a:solidFill>
              </a:rPr>
              <a:t>-Controls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336" name="Google Shape;336;p48"/>
          <p:cNvSpPr txBox="1">
            <a:spLocks noGrp="1"/>
          </p:cNvSpPr>
          <p:nvPr>
            <p:ph type="subTitle" idx="4294967295"/>
          </p:nvPr>
        </p:nvSpPr>
        <p:spPr>
          <a:xfrm>
            <a:off x="1363000" y="3236650"/>
            <a:ext cx="18483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COLLECTION</a:t>
            </a:r>
            <a:endParaRPr dirty="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37" name="Google Shape;337;p48"/>
          <p:cNvSpPr txBox="1">
            <a:spLocks noGrp="1"/>
          </p:cNvSpPr>
          <p:nvPr>
            <p:ph type="subTitle" idx="4294967295"/>
          </p:nvPr>
        </p:nvSpPr>
        <p:spPr>
          <a:xfrm>
            <a:off x="3647848" y="3729225"/>
            <a:ext cx="1848300" cy="6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</a:rPr>
              <a:t>- </a:t>
            </a:r>
            <a:r>
              <a:rPr lang="en-US" sz="1400" dirty="0" err="1">
                <a:solidFill>
                  <a:schemeClr val="lt1"/>
                </a:solidFill>
              </a:rPr>
              <a:t>Kallisto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338" name="Google Shape;338;p48"/>
          <p:cNvSpPr txBox="1">
            <a:spLocks noGrp="1"/>
          </p:cNvSpPr>
          <p:nvPr>
            <p:ph type="subTitle" idx="4294967295"/>
          </p:nvPr>
        </p:nvSpPr>
        <p:spPr>
          <a:xfrm>
            <a:off x="3647848" y="3236650"/>
            <a:ext cx="18483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ALIGNMENT</a:t>
            </a:r>
            <a:endParaRPr dirty="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39" name="Google Shape;339;p48"/>
          <p:cNvSpPr txBox="1">
            <a:spLocks noGrp="1"/>
          </p:cNvSpPr>
          <p:nvPr>
            <p:ph type="subTitle" idx="4294967295"/>
          </p:nvPr>
        </p:nvSpPr>
        <p:spPr>
          <a:xfrm>
            <a:off x="5932695" y="3729225"/>
            <a:ext cx="1848300" cy="6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lt1"/>
                </a:solidFill>
              </a:rPr>
              <a:t>-SLEUTH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340" name="Google Shape;340;p48"/>
          <p:cNvSpPr txBox="1">
            <a:spLocks noGrp="1"/>
          </p:cNvSpPr>
          <p:nvPr>
            <p:ph type="subTitle" idx="4294967295"/>
          </p:nvPr>
        </p:nvSpPr>
        <p:spPr>
          <a:xfrm>
            <a:off x="5932695" y="3236650"/>
            <a:ext cx="18483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CLUSTER</a:t>
            </a:r>
            <a:endParaRPr dirty="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341" name="Google Shape;341;p48"/>
          <p:cNvGrpSpPr/>
          <p:nvPr/>
        </p:nvGrpSpPr>
        <p:grpSpPr>
          <a:xfrm rot="5400000">
            <a:off x="6303182" y="-1603253"/>
            <a:ext cx="1714476" cy="4320564"/>
            <a:chOff x="5762975" y="2535925"/>
            <a:chExt cx="781225" cy="1968725"/>
          </a:xfrm>
        </p:grpSpPr>
        <p:sp>
          <p:nvSpPr>
            <p:cNvPr id="342" name="Google Shape;342;p48"/>
            <p:cNvSpPr/>
            <p:nvPr/>
          </p:nvSpPr>
          <p:spPr>
            <a:xfrm>
              <a:off x="5777825" y="4414450"/>
              <a:ext cx="691625" cy="90200"/>
            </a:xfrm>
            <a:custGeom>
              <a:avLst/>
              <a:gdLst/>
              <a:ahLst/>
              <a:cxnLst/>
              <a:rect l="l" t="t" r="r" b="b"/>
              <a:pathLst>
                <a:path w="27665" h="3608" extrusionOk="0">
                  <a:moveTo>
                    <a:pt x="1803" y="1"/>
                  </a:moveTo>
                  <a:cubicBezTo>
                    <a:pt x="822" y="1"/>
                    <a:pt x="0" y="800"/>
                    <a:pt x="0" y="1804"/>
                  </a:cubicBezTo>
                  <a:cubicBezTo>
                    <a:pt x="0" y="2785"/>
                    <a:pt x="822" y="3607"/>
                    <a:pt x="1803" y="3607"/>
                  </a:cubicBezTo>
                  <a:cubicBezTo>
                    <a:pt x="2808" y="3607"/>
                    <a:pt x="3606" y="2785"/>
                    <a:pt x="3606" y="1804"/>
                  </a:cubicBezTo>
                  <a:lnTo>
                    <a:pt x="24058" y="1804"/>
                  </a:lnTo>
                  <a:cubicBezTo>
                    <a:pt x="24058" y="2785"/>
                    <a:pt x="24857" y="3607"/>
                    <a:pt x="25861" y="3607"/>
                  </a:cubicBezTo>
                  <a:cubicBezTo>
                    <a:pt x="26843" y="3607"/>
                    <a:pt x="27664" y="2785"/>
                    <a:pt x="27664" y="1804"/>
                  </a:cubicBezTo>
                  <a:cubicBezTo>
                    <a:pt x="27664" y="800"/>
                    <a:pt x="26843" y="1"/>
                    <a:pt x="25861" y="1"/>
                  </a:cubicBezTo>
                  <a:cubicBezTo>
                    <a:pt x="25062" y="1"/>
                    <a:pt x="24400" y="503"/>
                    <a:pt x="24172" y="1188"/>
                  </a:cubicBezTo>
                  <a:lnTo>
                    <a:pt x="3492" y="1188"/>
                  </a:lnTo>
                  <a:cubicBezTo>
                    <a:pt x="3264" y="503"/>
                    <a:pt x="2602" y="1"/>
                    <a:pt x="180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8"/>
            <p:cNvSpPr/>
            <p:nvPr/>
          </p:nvSpPr>
          <p:spPr>
            <a:xfrm>
              <a:off x="5943300" y="2686025"/>
              <a:ext cx="600900" cy="120425"/>
            </a:xfrm>
            <a:custGeom>
              <a:avLst/>
              <a:gdLst/>
              <a:ahLst/>
              <a:cxnLst/>
              <a:rect l="l" t="t" r="r" b="b"/>
              <a:pathLst>
                <a:path w="24036" h="4817" extrusionOk="0">
                  <a:moveTo>
                    <a:pt x="21639" y="0"/>
                  </a:moveTo>
                  <a:cubicBezTo>
                    <a:pt x="20315" y="0"/>
                    <a:pt x="19242" y="1073"/>
                    <a:pt x="19242" y="2397"/>
                  </a:cubicBezTo>
                  <a:lnTo>
                    <a:pt x="2968" y="2397"/>
                  </a:lnTo>
                  <a:cubicBezTo>
                    <a:pt x="2831" y="1712"/>
                    <a:pt x="2237" y="1210"/>
                    <a:pt x="1507" y="1210"/>
                  </a:cubicBezTo>
                  <a:cubicBezTo>
                    <a:pt x="662" y="1210"/>
                    <a:pt x="0" y="1872"/>
                    <a:pt x="0" y="2716"/>
                  </a:cubicBezTo>
                  <a:cubicBezTo>
                    <a:pt x="0" y="3538"/>
                    <a:pt x="662" y="4200"/>
                    <a:pt x="1507" y="4200"/>
                  </a:cubicBezTo>
                  <a:cubicBezTo>
                    <a:pt x="2237" y="4200"/>
                    <a:pt x="2831" y="3698"/>
                    <a:pt x="2968" y="3013"/>
                  </a:cubicBezTo>
                  <a:lnTo>
                    <a:pt x="19311" y="3013"/>
                  </a:lnTo>
                  <a:cubicBezTo>
                    <a:pt x="19585" y="4040"/>
                    <a:pt x="20520" y="4816"/>
                    <a:pt x="21639" y="4816"/>
                  </a:cubicBezTo>
                  <a:cubicBezTo>
                    <a:pt x="22963" y="4816"/>
                    <a:pt x="24035" y="3743"/>
                    <a:pt x="24035" y="2397"/>
                  </a:cubicBezTo>
                  <a:cubicBezTo>
                    <a:pt x="24035" y="1073"/>
                    <a:pt x="22963" y="0"/>
                    <a:pt x="216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8"/>
            <p:cNvSpPr/>
            <p:nvPr/>
          </p:nvSpPr>
          <p:spPr>
            <a:xfrm>
              <a:off x="6108775" y="2821250"/>
              <a:ext cx="390350" cy="150100"/>
            </a:xfrm>
            <a:custGeom>
              <a:avLst/>
              <a:gdLst/>
              <a:ahLst/>
              <a:cxnLst/>
              <a:rect l="l" t="t" r="r" b="b"/>
              <a:pathLst>
                <a:path w="15614" h="6004" extrusionOk="0">
                  <a:moveTo>
                    <a:pt x="12623" y="1"/>
                  </a:moveTo>
                  <a:cubicBezTo>
                    <a:pt x="11162" y="1"/>
                    <a:pt x="9953" y="1028"/>
                    <a:pt x="9679" y="2397"/>
                  </a:cubicBezTo>
                  <a:lnTo>
                    <a:pt x="2968" y="2397"/>
                  </a:lnTo>
                  <a:cubicBezTo>
                    <a:pt x="2831" y="1712"/>
                    <a:pt x="2215" y="1210"/>
                    <a:pt x="1484" y="1210"/>
                  </a:cubicBezTo>
                  <a:cubicBezTo>
                    <a:pt x="663" y="1210"/>
                    <a:pt x="1" y="1872"/>
                    <a:pt x="1" y="2717"/>
                  </a:cubicBezTo>
                  <a:cubicBezTo>
                    <a:pt x="1" y="3539"/>
                    <a:pt x="663" y="4200"/>
                    <a:pt x="1484" y="4200"/>
                  </a:cubicBezTo>
                  <a:cubicBezTo>
                    <a:pt x="2215" y="4200"/>
                    <a:pt x="2831" y="3698"/>
                    <a:pt x="2968" y="3014"/>
                  </a:cubicBezTo>
                  <a:lnTo>
                    <a:pt x="9610" y="3014"/>
                  </a:lnTo>
                  <a:cubicBezTo>
                    <a:pt x="9610" y="4657"/>
                    <a:pt x="10957" y="6004"/>
                    <a:pt x="12623" y="6004"/>
                  </a:cubicBezTo>
                  <a:cubicBezTo>
                    <a:pt x="14267" y="6004"/>
                    <a:pt x="15613" y="4657"/>
                    <a:pt x="15613" y="3014"/>
                  </a:cubicBezTo>
                  <a:cubicBezTo>
                    <a:pt x="15613" y="1347"/>
                    <a:pt x="14267" y="1"/>
                    <a:pt x="1262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8"/>
            <p:cNvSpPr/>
            <p:nvPr/>
          </p:nvSpPr>
          <p:spPr>
            <a:xfrm>
              <a:off x="6228625" y="2956500"/>
              <a:ext cx="150650" cy="150100"/>
            </a:xfrm>
            <a:custGeom>
              <a:avLst/>
              <a:gdLst/>
              <a:ahLst/>
              <a:cxnLst/>
              <a:rect l="l" t="t" r="r" b="b"/>
              <a:pathLst>
                <a:path w="6026" h="6004" extrusionOk="0">
                  <a:moveTo>
                    <a:pt x="3013" y="0"/>
                  </a:moveTo>
                  <a:cubicBezTo>
                    <a:pt x="1347" y="0"/>
                    <a:pt x="0" y="1347"/>
                    <a:pt x="0" y="3013"/>
                  </a:cubicBezTo>
                  <a:cubicBezTo>
                    <a:pt x="0" y="4657"/>
                    <a:pt x="1347" y="6003"/>
                    <a:pt x="3013" y="6003"/>
                  </a:cubicBezTo>
                  <a:cubicBezTo>
                    <a:pt x="4679" y="6003"/>
                    <a:pt x="6026" y="4657"/>
                    <a:pt x="6026" y="3013"/>
                  </a:cubicBezTo>
                  <a:cubicBezTo>
                    <a:pt x="6026" y="1347"/>
                    <a:pt x="4679" y="0"/>
                    <a:pt x="301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8"/>
            <p:cNvSpPr/>
            <p:nvPr/>
          </p:nvSpPr>
          <p:spPr>
            <a:xfrm>
              <a:off x="5762975" y="3677775"/>
              <a:ext cx="616300" cy="150675"/>
            </a:xfrm>
            <a:custGeom>
              <a:avLst/>
              <a:gdLst/>
              <a:ahLst/>
              <a:cxnLst/>
              <a:rect l="l" t="t" r="r" b="b"/>
              <a:pathLst>
                <a:path w="24652" h="6027" extrusionOk="0">
                  <a:moveTo>
                    <a:pt x="21639" y="0"/>
                  </a:moveTo>
                  <a:cubicBezTo>
                    <a:pt x="20178" y="0"/>
                    <a:pt x="18968" y="1027"/>
                    <a:pt x="18695" y="2420"/>
                  </a:cubicBezTo>
                  <a:lnTo>
                    <a:pt x="4725" y="2420"/>
                  </a:lnTo>
                  <a:cubicBezTo>
                    <a:pt x="4452" y="1370"/>
                    <a:pt x="3516" y="617"/>
                    <a:pt x="2397" y="617"/>
                  </a:cubicBezTo>
                  <a:cubicBezTo>
                    <a:pt x="1073" y="617"/>
                    <a:pt x="1" y="1689"/>
                    <a:pt x="1" y="3013"/>
                  </a:cubicBezTo>
                  <a:cubicBezTo>
                    <a:pt x="1" y="4337"/>
                    <a:pt x="1073" y="5410"/>
                    <a:pt x="2397" y="5410"/>
                  </a:cubicBezTo>
                  <a:cubicBezTo>
                    <a:pt x="3721" y="5410"/>
                    <a:pt x="4817" y="4337"/>
                    <a:pt x="4817" y="3013"/>
                  </a:cubicBezTo>
                  <a:lnTo>
                    <a:pt x="18626" y="3013"/>
                  </a:lnTo>
                  <a:cubicBezTo>
                    <a:pt x="18626" y="4679"/>
                    <a:pt x="19973" y="6026"/>
                    <a:pt x="21639" y="6026"/>
                  </a:cubicBezTo>
                  <a:cubicBezTo>
                    <a:pt x="23305" y="6026"/>
                    <a:pt x="24652" y="4679"/>
                    <a:pt x="24652" y="3013"/>
                  </a:cubicBezTo>
                  <a:cubicBezTo>
                    <a:pt x="24652" y="1347"/>
                    <a:pt x="23305" y="0"/>
                    <a:pt x="216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8"/>
            <p:cNvSpPr/>
            <p:nvPr/>
          </p:nvSpPr>
          <p:spPr>
            <a:xfrm>
              <a:off x="5762975" y="3542525"/>
              <a:ext cx="736150" cy="150675"/>
            </a:xfrm>
            <a:custGeom>
              <a:avLst/>
              <a:gdLst/>
              <a:ahLst/>
              <a:cxnLst/>
              <a:rect l="l" t="t" r="r" b="b"/>
              <a:pathLst>
                <a:path w="29446" h="6027" extrusionOk="0">
                  <a:moveTo>
                    <a:pt x="26455" y="1"/>
                  </a:moveTo>
                  <a:cubicBezTo>
                    <a:pt x="24994" y="1"/>
                    <a:pt x="23785" y="1028"/>
                    <a:pt x="23511" y="2420"/>
                  </a:cubicBezTo>
                  <a:lnTo>
                    <a:pt x="4725" y="2420"/>
                  </a:lnTo>
                  <a:cubicBezTo>
                    <a:pt x="4452" y="1370"/>
                    <a:pt x="3516" y="617"/>
                    <a:pt x="2397" y="617"/>
                  </a:cubicBezTo>
                  <a:cubicBezTo>
                    <a:pt x="1073" y="617"/>
                    <a:pt x="1" y="1690"/>
                    <a:pt x="1" y="3014"/>
                  </a:cubicBezTo>
                  <a:cubicBezTo>
                    <a:pt x="1" y="4338"/>
                    <a:pt x="1073" y="5410"/>
                    <a:pt x="2397" y="5410"/>
                  </a:cubicBezTo>
                  <a:cubicBezTo>
                    <a:pt x="3721" y="5410"/>
                    <a:pt x="4817" y="4338"/>
                    <a:pt x="4817" y="3014"/>
                  </a:cubicBezTo>
                  <a:lnTo>
                    <a:pt x="23442" y="3014"/>
                  </a:lnTo>
                  <a:cubicBezTo>
                    <a:pt x="23442" y="4680"/>
                    <a:pt x="24789" y="6027"/>
                    <a:pt x="26455" y="6027"/>
                  </a:cubicBezTo>
                  <a:cubicBezTo>
                    <a:pt x="28099" y="6027"/>
                    <a:pt x="29445" y="4680"/>
                    <a:pt x="29445" y="3014"/>
                  </a:cubicBezTo>
                  <a:cubicBezTo>
                    <a:pt x="29445" y="1347"/>
                    <a:pt x="28099" y="1"/>
                    <a:pt x="2645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8"/>
            <p:cNvSpPr/>
            <p:nvPr/>
          </p:nvSpPr>
          <p:spPr>
            <a:xfrm>
              <a:off x="5822900" y="3798175"/>
              <a:ext cx="421150" cy="180350"/>
            </a:xfrm>
            <a:custGeom>
              <a:avLst/>
              <a:gdLst/>
              <a:ahLst/>
              <a:cxnLst/>
              <a:rect l="l" t="t" r="r" b="b"/>
              <a:pathLst>
                <a:path w="16846" h="7214" extrusionOk="0">
                  <a:moveTo>
                    <a:pt x="13239" y="0"/>
                  </a:moveTo>
                  <a:cubicBezTo>
                    <a:pt x="11436" y="0"/>
                    <a:pt x="9975" y="1301"/>
                    <a:pt x="9678" y="3013"/>
                  </a:cubicBezTo>
                  <a:lnTo>
                    <a:pt x="3493" y="3013"/>
                  </a:lnTo>
                  <a:cubicBezTo>
                    <a:pt x="3264" y="2306"/>
                    <a:pt x="2602" y="1804"/>
                    <a:pt x="1803" y="1804"/>
                  </a:cubicBezTo>
                  <a:cubicBezTo>
                    <a:pt x="822" y="1804"/>
                    <a:pt x="0" y="2603"/>
                    <a:pt x="0" y="3607"/>
                  </a:cubicBezTo>
                  <a:cubicBezTo>
                    <a:pt x="0" y="4611"/>
                    <a:pt x="822" y="5410"/>
                    <a:pt x="1803" y="5410"/>
                  </a:cubicBezTo>
                  <a:cubicBezTo>
                    <a:pt x="2808" y="5410"/>
                    <a:pt x="3607" y="4611"/>
                    <a:pt x="3607" y="3607"/>
                  </a:cubicBezTo>
                  <a:lnTo>
                    <a:pt x="9633" y="3607"/>
                  </a:lnTo>
                  <a:cubicBezTo>
                    <a:pt x="9633" y="5593"/>
                    <a:pt x="11230" y="7213"/>
                    <a:pt x="13239" y="7213"/>
                  </a:cubicBezTo>
                  <a:cubicBezTo>
                    <a:pt x="15225" y="7213"/>
                    <a:pt x="16845" y="5593"/>
                    <a:pt x="16845" y="3607"/>
                  </a:cubicBezTo>
                  <a:cubicBezTo>
                    <a:pt x="16845" y="1621"/>
                    <a:pt x="15225" y="0"/>
                    <a:pt x="132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8"/>
            <p:cNvSpPr/>
            <p:nvPr/>
          </p:nvSpPr>
          <p:spPr>
            <a:xfrm>
              <a:off x="5913050" y="3963650"/>
              <a:ext cx="150675" cy="150100"/>
            </a:xfrm>
            <a:custGeom>
              <a:avLst/>
              <a:gdLst/>
              <a:ahLst/>
              <a:cxnLst/>
              <a:rect l="l" t="t" r="r" b="b"/>
              <a:pathLst>
                <a:path w="6027" h="6004" extrusionOk="0">
                  <a:moveTo>
                    <a:pt x="3014" y="1"/>
                  </a:moveTo>
                  <a:cubicBezTo>
                    <a:pt x="1347" y="1"/>
                    <a:pt x="1" y="1347"/>
                    <a:pt x="1" y="2991"/>
                  </a:cubicBezTo>
                  <a:cubicBezTo>
                    <a:pt x="1" y="4657"/>
                    <a:pt x="1347" y="6004"/>
                    <a:pt x="3014" y="6004"/>
                  </a:cubicBezTo>
                  <a:cubicBezTo>
                    <a:pt x="4680" y="6004"/>
                    <a:pt x="6027" y="4657"/>
                    <a:pt x="6027" y="2991"/>
                  </a:cubicBezTo>
                  <a:cubicBezTo>
                    <a:pt x="6027" y="1347"/>
                    <a:pt x="4680" y="1"/>
                    <a:pt x="301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8"/>
            <p:cNvSpPr/>
            <p:nvPr/>
          </p:nvSpPr>
          <p:spPr>
            <a:xfrm>
              <a:off x="5822900" y="4113725"/>
              <a:ext cx="376075" cy="120425"/>
            </a:xfrm>
            <a:custGeom>
              <a:avLst/>
              <a:gdLst/>
              <a:ahLst/>
              <a:cxnLst/>
              <a:rect l="l" t="t" r="r" b="b"/>
              <a:pathLst>
                <a:path w="15043" h="4817" extrusionOk="0">
                  <a:moveTo>
                    <a:pt x="2420" y="1"/>
                  </a:moveTo>
                  <a:cubicBezTo>
                    <a:pt x="1073" y="1"/>
                    <a:pt x="0" y="1074"/>
                    <a:pt x="0" y="2397"/>
                  </a:cubicBezTo>
                  <a:cubicBezTo>
                    <a:pt x="0" y="3721"/>
                    <a:pt x="1073" y="4817"/>
                    <a:pt x="2420" y="4817"/>
                  </a:cubicBezTo>
                  <a:cubicBezTo>
                    <a:pt x="3538" y="4817"/>
                    <a:pt x="4474" y="4041"/>
                    <a:pt x="4748" y="3014"/>
                  </a:cubicBezTo>
                  <a:lnTo>
                    <a:pt x="11527" y="3014"/>
                  </a:lnTo>
                  <a:cubicBezTo>
                    <a:pt x="11778" y="3699"/>
                    <a:pt x="12440" y="4201"/>
                    <a:pt x="13239" y="4201"/>
                  </a:cubicBezTo>
                  <a:cubicBezTo>
                    <a:pt x="14220" y="4201"/>
                    <a:pt x="15042" y="3402"/>
                    <a:pt x="15042" y="2397"/>
                  </a:cubicBezTo>
                  <a:cubicBezTo>
                    <a:pt x="15042" y="1416"/>
                    <a:pt x="14220" y="594"/>
                    <a:pt x="13239" y="594"/>
                  </a:cubicBezTo>
                  <a:cubicBezTo>
                    <a:pt x="12235" y="594"/>
                    <a:pt x="11436" y="1416"/>
                    <a:pt x="11436" y="2397"/>
                  </a:cubicBezTo>
                  <a:lnTo>
                    <a:pt x="4816" y="2397"/>
                  </a:lnTo>
                  <a:cubicBezTo>
                    <a:pt x="4816" y="1074"/>
                    <a:pt x="3744" y="1"/>
                    <a:pt x="24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8"/>
            <p:cNvSpPr/>
            <p:nvPr/>
          </p:nvSpPr>
          <p:spPr>
            <a:xfrm>
              <a:off x="5777825" y="4279225"/>
              <a:ext cx="586050" cy="90175"/>
            </a:xfrm>
            <a:custGeom>
              <a:avLst/>
              <a:gdLst/>
              <a:ahLst/>
              <a:cxnLst/>
              <a:rect l="l" t="t" r="r" b="b"/>
              <a:pathLst>
                <a:path w="23442" h="3607" extrusionOk="0">
                  <a:moveTo>
                    <a:pt x="1803" y="0"/>
                  </a:moveTo>
                  <a:cubicBezTo>
                    <a:pt x="822" y="0"/>
                    <a:pt x="0" y="799"/>
                    <a:pt x="0" y="1803"/>
                  </a:cubicBezTo>
                  <a:cubicBezTo>
                    <a:pt x="0" y="2785"/>
                    <a:pt x="822" y="3607"/>
                    <a:pt x="1803" y="3607"/>
                  </a:cubicBezTo>
                  <a:cubicBezTo>
                    <a:pt x="2602" y="3607"/>
                    <a:pt x="3264" y="3104"/>
                    <a:pt x="3492" y="2397"/>
                  </a:cubicBezTo>
                  <a:lnTo>
                    <a:pt x="19949" y="2397"/>
                  </a:lnTo>
                  <a:cubicBezTo>
                    <a:pt x="20200" y="3104"/>
                    <a:pt x="20862" y="3607"/>
                    <a:pt x="21638" y="3607"/>
                  </a:cubicBezTo>
                  <a:cubicBezTo>
                    <a:pt x="22643" y="3607"/>
                    <a:pt x="23442" y="2785"/>
                    <a:pt x="23442" y="1803"/>
                  </a:cubicBezTo>
                  <a:cubicBezTo>
                    <a:pt x="23442" y="799"/>
                    <a:pt x="22643" y="0"/>
                    <a:pt x="21638" y="0"/>
                  </a:cubicBezTo>
                  <a:cubicBezTo>
                    <a:pt x="20657" y="0"/>
                    <a:pt x="19835" y="799"/>
                    <a:pt x="19835" y="1803"/>
                  </a:cubicBezTo>
                  <a:lnTo>
                    <a:pt x="3606" y="1803"/>
                  </a:lnTo>
                  <a:cubicBezTo>
                    <a:pt x="3606" y="799"/>
                    <a:pt x="2808" y="0"/>
                    <a:pt x="180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8"/>
            <p:cNvSpPr/>
            <p:nvPr/>
          </p:nvSpPr>
          <p:spPr>
            <a:xfrm>
              <a:off x="5867975" y="2535925"/>
              <a:ext cx="676225" cy="119875"/>
            </a:xfrm>
            <a:custGeom>
              <a:avLst/>
              <a:gdLst/>
              <a:ahLst/>
              <a:cxnLst/>
              <a:rect l="l" t="t" r="r" b="b"/>
              <a:pathLst>
                <a:path w="27049" h="4795" extrusionOk="0">
                  <a:moveTo>
                    <a:pt x="24652" y="1"/>
                  </a:moveTo>
                  <a:cubicBezTo>
                    <a:pt x="23328" y="1"/>
                    <a:pt x="22255" y="1074"/>
                    <a:pt x="22255" y="2398"/>
                  </a:cubicBezTo>
                  <a:lnTo>
                    <a:pt x="2991" y="2398"/>
                  </a:lnTo>
                  <a:cubicBezTo>
                    <a:pt x="2854" y="1713"/>
                    <a:pt x="2237" y="1188"/>
                    <a:pt x="1507" y="1188"/>
                  </a:cubicBezTo>
                  <a:cubicBezTo>
                    <a:pt x="685" y="1188"/>
                    <a:pt x="0" y="1873"/>
                    <a:pt x="0" y="2694"/>
                  </a:cubicBezTo>
                  <a:cubicBezTo>
                    <a:pt x="0" y="3539"/>
                    <a:pt x="685" y="4201"/>
                    <a:pt x="1507" y="4201"/>
                  </a:cubicBezTo>
                  <a:cubicBezTo>
                    <a:pt x="2237" y="4201"/>
                    <a:pt x="2854" y="3676"/>
                    <a:pt x="2991" y="2991"/>
                  </a:cubicBezTo>
                  <a:lnTo>
                    <a:pt x="22324" y="2991"/>
                  </a:lnTo>
                  <a:cubicBezTo>
                    <a:pt x="22598" y="4041"/>
                    <a:pt x="23533" y="4794"/>
                    <a:pt x="24652" y="4794"/>
                  </a:cubicBezTo>
                  <a:cubicBezTo>
                    <a:pt x="25976" y="4794"/>
                    <a:pt x="27048" y="3721"/>
                    <a:pt x="27048" y="2398"/>
                  </a:cubicBezTo>
                  <a:cubicBezTo>
                    <a:pt x="27048" y="1074"/>
                    <a:pt x="25976" y="1"/>
                    <a:pt x="246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8"/>
            <p:cNvSpPr/>
            <p:nvPr/>
          </p:nvSpPr>
          <p:spPr>
            <a:xfrm>
              <a:off x="5793225" y="3392450"/>
              <a:ext cx="750975" cy="150100"/>
            </a:xfrm>
            <a:custGeom>
              <a:avLst/>
              <a:gdLst/>
              <a:ahLst/>
              <a:cxnLst/>
              <a:rect l="l" t="t" r="r" b="b"/>
              <a:pathLst>
                <a:path w="30039" h="6004" extrusionOk="0">
                  <a:moveTo>
                    <a:pt x="2990" y="1"/>
                  </a:moveTo>
                  <a:cubicBezTo>
                    <a:pt x="1347" y="1"/>
                    <a:pt x="0" y="1347"/>
                    <a:pt x="0" y="2991"/>
                  </a:cubicBezTo>
                  <a:cubicBezTo>
                    <a:pt x="0" y="4657"/>
                    <a:pt x="1347" y="6004"/>
                    <a:pt x="2990" y="6004"/>
                  </a:cubicBezTo>
                  <a:cubicBezTo>
                    <a:pt x="4451" y="6004"/>
                    <a:pt x="5661" y="4977"/>
                    <a:pt x="5935" y="3607"/>
                  </a:cubicBezTo>
                  <a:lnTo>
                    <a:pt x="25314" y="3607"/>
                  </a:lnTo>
                  <a:cubicBezTo>
                    <a:pt x="25588" y="4634"/>
                    <a:pt x="26523" y="5410"/>
                    <a:pt x="27642" y="5410"/>
                  </a:cubicBezTo>
                  <a:cubicBezTo>
                    <a:pt x="28966" y="5410"/>
                    <a:pt x="30038" y="4337"/>
                    <a:pt x="30038" y="2991"/>
                  </a:cubicBezTo>
                  <a:cubicBezTo>
                    <a:pt x="30038" y="1667"/>
                    <a:pt x="28966" y="594"/>
                    <a:pt x="27642" y="594"/>
                  </a:cubicBezTo>
                  <a:cubicBezTo>
                    <a:pt x="26318" y="594"/>
                    <a:pt x="25245" y="1667"/>
                    <a:pt x="25245" y="2991"/>
                  </a:cubicBezTo>
                  <a:lnTo>
                    <a:pt x="6003" y="2991"/>
                  </a:lnTo>
                  <a:cubicBezTo>
                    <a:pt x="6003" y="1347"/>
                    <a:pt x="4657" y="1"/>
                    <a:pt x="299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8"/>
            <p:cNvSpPr/>
            <p:nvPr/>
          </p:nvSpPr>
          <p:spPr>
            <a:xfrm>
              <a:off x="5913050" y="3241800"/>
              <a:ext cx="616300" cy="150675"/>
            </a:xfrm>
            <a:custGeom>
              <a:avLst/>
              <a:gdLst/>
              <a:ahLst/>
              <a:cxnLst/>
              <a:rect l="l" t="t" r="r" b="b"/>
              <a:pathLst>
                <a:path w="24652" h="6027" extrusionOk="0">
                  <a:moveTo>
                    <a:pt x="3014" y="1"/>
                  </a:moveTo>
                  <a:cubicBezTo>
                    <a:pt x="1347" y="1"/>
                    <a:pt x="1" y="1348"/>
                    <a:pt x="1" y="3014"/>
                  </a:cubicBezTo>
                  <a:cubicBezTo>
                    <a:pt x="1" y="4680"/>
                    <a:pt x="1347" y="6027"/>
                    <a:pt x="3014" y="6027"/>
                  </a:cubicBezTo>
                  <a:cubicBezTo>
                    <a:pt x="4474" y="6027"/>
                    <a:pt x="5684" y="5000"/>
                    <a:pt x="5958" y="3607"/>
                  </a:cubicBezTo>
                  <a:lnTo>
                    <a:pt x="20543" y="3607"/>
                  </a:lnTo>
                  <a:cubicBezTo>
                    <a:pt x="20795" y="4497"/>
                    <a:pt x="21593" y="5114"/>
                    <a:pt x="22552" y="5114"/>
                  </a:cubicBezTo>
                  <a:cubicBezTo>
                    <a:pt x="23716" y="5114"/>
                    <a:pt x="24652" y="4178"/>
                    <a:pt x="24652" y="3014"/>
                  </a:cubicBezTo>
                  <a:cubicBezTo>
                    <a:pt x="24652" y="1850"/>
                    <a:pt x="23716" y="914"/>
                    <a:pt x="22552" y="914"/>
                  </a:cubicBezTo>
                  <a:cubicBezTo>
                    <a:pt x="21388" y="914"/>
                    <a:pt x="20452" y="1850"/>
                    <a:pt x="20452" y="3014"/>
                  </a:cubicBezTo>
                  <a:lnTo>
                    <a:pt x="6027" y="3014"/>
                  </a:lnTo>
                  <a:cubicBezTo>
                    <a:pt x="6027" y="1348"/>
                    <a:pt x="4680" y="1"/>
                    <a:pt x="301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8"/>
            <p:cNvSpPr/>
            <p:nvPr/>
          </p:nvSpPr>
          <p:spPr>
            <a:xfrm>
              <a:off x="6063700" y="3091725"/>
              <a:ext cx="405750" cy="180350"/>
            </a:xfrm>
            <a:custGeom>
              <a:avLst/>
              <a:gdLst/>
              <a:ahLst/>
              <a:cxnLst/>
              <a:rect l="l" t="t" r="r" b="b"/>
              <a:pathLst>
                <a:path w="16230" h="7214" extrusionOk="0">
                  <a:moveTo>
                    <a:pt x="3607" y="1"/>
                  </a:moveTo>
                  <a:cubicBezTo>
                    <a:pt x="1598" y="1"/>
                    <a:pt x="1" y="1621"/>
                    <a:pt x="1" y="3607"/>
                  </a:cubicBezTo>
                  <a:cubicBezTo>
                    <a:pt x="1" y="5593"/>
                    <a:pt x="1598" y="7214"/>
                    <a:pt x="3607" y="7214"/>
                  </a:cubicBezTo>
                  <a:cubicBezTo>
                    <a:pt x="5593" y="7214"/>
                    <a:pt x="7213" y="5593"/>
                    <a:pt x="7213" y="3607"/>
                  </a:cubicBezTo>
                  <a:lnTo>
                    <a:pt x="12029" y="3607"/>
                  </a:lnTo>
                  <a:cubicBezTo>
                    <a:pt x="12189" y="4634"/>
                    <a:pt x="13057" y="5410"/>
                    <a:pt x="14129" y="5410"/>
                  </a:cubicBezTo>
                  <a:cubicBezTo>
                    <a:pt x="15271" y="5410"/>
                    <a:pt x="16229" y="4475"/>
                    <a:pt x="16229" y="3310"/>
                  </a:cubicBezTo>
                  <a:cubicBezTo>
                    <a:pt x="16229" y="2146"/>
                    <a:pt x="15271" y="1211"/>
                    <a:pt x="14129" y="1211"/>
                  </a:cubicBezTo>
                  <a:cubicBezTo>
                    <a:pt x="13057" y="1211"/>
                    <a:pt x="12189" y="1987"/>
                    <a:pt x="12029" y="3014"/>
                  </a:cubicBezTo>
                  <a:lnTo>
                    <a:pt x="7145" y="3014"/>
                  </a:lnTo>
                  <a:cubicBezTo>
                    <a:pt x="6871" y="1302"/>
                    <a:pt x="5387" y="1"/>
                    <a:pt x="360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49"/>
          <p:cNvGrpSpPr/>
          <p:nvPr/>
        </p:nvGrpSpPr>
        <p:grpSpPr>
          <a:xfrm>
            <a:off x="0" y="2064600"/>
            <a:ext cx="6157800" cy="1014300"/>
            <a:chOff x="0" y="2064600"/>
            <a:chExt cx="6157800" cy="1014300"/>
          </a:xfrm>
        </p:grpSpPr>
        <p:sp>
          <p:nvSpPr>
            <p:cNvPr id="361" name="Google Shape;361;p49"/>
            <p:cNvSpPr/>
            <p:nvPr/>
          </p:nvSpPr>
          <p:spPr>
            <a:xfrm>
              <a:off x="0" y="2541000"/>
              <a:ext cx="6096300" cy="61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9"/>
            <p:cNvSpPr/>
            <p:nvPr/>
          </p:nvSpPr>
          <p:spPr>
            <a:xfrm>
              <a:off x="1780000" y="2064600"/>
              <a:ext cx="1014300" cy="10143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9"/>
            <p:cNvSpPr/>
            <p:nvPr/>
          </p:nvSpPr>
          <p:spPr>
            <a:xfrm>
              <a:off x="4064850" y="2064600"/>
              <a:ext cx="1014300" cy="10143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9"/>
            <p:cNvSpPr/>
            <p:nvPr/>
          </p:nvSpPr>
          <p:spPr>
            <a:xfrm rot="-5400000">
              <a:off x="5881050" y="2541000"/>
              <a:ext cx="492000" cy="61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" name="Google Shape;365;p4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solidFill>
                  <a:srgbClr val="CCEAFA"/>
                </a:solidFill>
              </a:rPr>
              <a:t>METHODOLGY</a:t>
            </a:r>
            <a:endParaRPr lang="en-CA" dirty="0">
              <a:solidFill>
                <a:srgbClr val="CCEAF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49"/>
          <p:cNvSpPr txBox="1"/>
          <p:nvPr/>
        </p:nvSpPr>
        <p:spPr>
          <a:xfrm>
            <a:off x="1780000" y="2371650"/>
            <a:ext cx="101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  <a:endParaRPr sz="18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7" name="Google Shape;367;p49"/>
          <p:cNvSpPr txBox="1"/>
          <p:nvPr/>
        </p:nvSpPr>
        <p:spPr>
          <a:xfrm>
            <a:off x="4064850" y="2371650"/>
            <a:ext cx="101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Archivo Black"/>
                <a:ea typeface="Archivo Black"/>
                <a:cs typeface="Archivo Black"/>
                <a:sym typeface="Archivo Black"/>
              </a:rPr>
              <a:t>5</a:t>
            </a:r>
            <a:endParaRPr sz="1800" dirty="0">
              <a:solidFill>
                <a:schemeClr val="dk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8" name="Google Shape;368;p49"/>
          <p:cNvSpPr txBox="1">
            <a:spLocks noGrp="1"/>
          </p:cNvSpPr>
          <p:nvPr>
            <p:ph type="subTitle" idx="4294967295"/>
          </p:nvPr>
        </p:nvSpPr>
        <p:spPr>
          <a:xfrm>
            <a:off x="1335250" y="3729224"/>
            <a:ext cx="1903800" cy="6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lt1"/>
                </a:solidFill>
              </a:rPr>
              <a:t>- SLEUTH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</a:rPr>
              <a:t>- Top 10%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369" name="Google Shape;369;p49"/>
          <p:cNvSpPr txBox="1">
            <a:spLocks noGrp="1"/>
          </p:cNvSpPr>
          <p:nvPr>
            <p:ph type="subTitle" idx="4294967295"/>
          </p:nvPr>
        </p:nvSpPr>
        <p:spPr>
          <a:xfrm>
            <a:off x="1147141" y="3236650"/>
            <a:ext cx="2091909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DIFFERENTIAL EXPRESSION</a:t>
            </a:r>
            <a:endParaRPr dirty="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70" name="Google Shape;370;p49"/>
          <p:cNvSpPr txBox="1">
            <a:spLocks noGrp="1"/>
          </p:cNvSpPr>
          <p:nvPr>
            <p:ph type="subTitle" idx="4294967295"/>
          </p:nvPr>
        </p:nvSpPr>
        <p:spPr>
          <a:xfrm>
            <a:off x="3620075" y="3729224"/>
            <a:ext cx="1903800" cy="6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lt1"/>
                </a:solidFill>
              </a:rPr>
              <a:t>- Annotation Reference Table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371" name="Google Shape;371;p49"/>
          <p:cNvSpPr txBox="1">
            <a:spLocks noGrp="1"/>
          </p:cNvSpPr>
          <p:nvPr>
            <p:ph type="subTitle" idx="4294967295"/>
          </p:nvPr>
        </p:nvSpPr>
        <p:spPr>
          <a:xfrm>
            <a:off x="3620075" y="3236650"/>
            <a:ext cx="1962578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GENE ANNOTATION</a:t>
            </a:r>
            <a:endParaRPr dirty="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72" name="Google Shape;372;p49"/>
          <p:cNvSpPr txBox="1">
            <a:spLocks noGrp="1"/>
          </p:cNvSpPr>
          <p:nvPr>
            <p:ph type="subTitle" idx="4294967295"/>
          </p:nvPr>
        </p:nvSpPr>
        <p:spPr>
          <a:xfrm>
            <a:off x="6349699" y="2096700"/>
            <a:ext cx="2361163" cy="95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rPr>
              <a:t>Gene Targets for SCZ Pathogensis Studies</a:t>
            </a:r>
            <a:endParaRPr sz="2400" dirty="0">
              <a:solidFill>
                <a:schemeClr val="lt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373" name="Google Shape;373;p49"/>
          <p:cNvGrpSpPr/>
          <p:nvPr/>
        </p:nvGrpSpPr>
        <p:grpSpPr>
          <a:xfrm rot="-5400000" flipH="1">
            <a:off x="1197782" y="-1603253"/>
            <a:ext cx="1714476" cy="4320564"/>
            <a:chOff x="5762975" y="2535925"/>
            <a:chExt cx="781225" cy="1968725"/>
          </a:xfrm>
        </p:grpSpPr>
        <p:sp>
          <p:nvSpPr>
            <p:cNvPr id="374" name="Google Shape;374;p49"/>
            <p:cNvSpPr/>
            <p:nvPr/>
          </p:nvSpPr>
          <p:spPr>
            <a:xfrm>
              <a:off x="5777825" y="4414450"/>
              <a:ext cx="691625" cy="90200"/>
            </a:xfrm>
            <a:custGeom>
              <a:avLst/>
              <a:gdLst/>
              <a:ahLst/>
              <a:cxnLst/>
              <a:rect l="l" t="t" r="r" b="b"/>
              <a:pathLst>
                <a:path w="27665" h="3608" extrusionOk="0">
                  <a:moveTo>
                    <a:pt x="1803" y="1"/>
                  </a:moveTo>
                  <a:cubicBezTo>
                    <a:pt x="822" y="1"/>
                    <a:pt x="0" y="800"/>
                    <a:pt x="0" y="1804"/>
                  </a:cubicBezTo>
                  <a:cubicBezTo>
                    <a:pt x="0" y="2785"/>
                    <a:pt x="822" y="3607"/>
                    <a:pt x="1803" y="3607"/>
                  </a:cubicBezTo>
                  <a:cubicBezTo>
                    <a:pt x="2808" y="3607"/>
                    <a:pt x="3606" y="2785"/>
                    <a:pt x="3606" y="1804"/>
                  </a:cubicBezTo>
                  <a:lnTo>
                    <a:pt x="24058" y="1804"/>
                  </a:lnTo>
                  <a:cubicBezTo>
                    <a:pt x="24058" y="2785"/>
                    <a:pt x="24857" y="3607"/>
                    <a:pt x="25861" y="3607"/>
                  </a:cubicBezTo>
                  <a:cubicBezTo>
                    <a:pt x="26843" y="3607"/>
                    <a:pt x="27664" y="2785"/>
                    <a:pt x="27664" y="1804"/>
                  </a:cubicBezTo>
                  <a:cubicBezTo>
                    <a:pt x="27664" y="800"/>
                    <a:pt x="26843" y="1"/>
                    <a:pt x="25861" y="1"/>
                  </a:cubicBezTo>
                  <a:cubicBezTo>
                    <a:pt x="25062" y="1"/>
                    <a:pt x="24400" y="503"/>
                    <a:pt x="24172" y="1188"/>
                  </a:cubicBezTo>
                  <a:lnTo>
                    <a:pt x="3492" y="1188"/>
                  </a:lnTo>
                  <a:cubicBezTo>
                    <a:pt x="3264" y="503"/>
                    <a:pt x="2602" y="1"/>
                    <a:pt x="180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9"/>
            <p:cNvSpPr/>
            <p:nvPr/>
          </p:nvSpPr>
          <p:spPr>
            <a:xfrm>
              <a:off x="5943300" y="2686025"/>
              <a:ext cx="600900" cy="120425"/>
            </a:xfrm>
            <a:custGeom>
              <a:avLst/>
              <a:gdLst/>
              <a:ahLst/>
              <a:cxnLst/>
              <a:rect l="l" t="t" r="r" b="b"/>
              <a:pathLst>
                <a:path w="24036" h="4817" extrusionOk="0">
                  <a:moveTo>
                    <a:pt x="21639" y="0"/>
                  </a:moveTo>
                  <a:cubicBezTo>
                    <a:pt x="20315" y="0"/>
                    <a:pt x="19242" y="1073"/>
                    <a:pt x="19242" y="2397"/>
                  </a:cubicBezTo>
                  <a:lnTo>
                    <a:pt x="2968" y="2397"/>
                  </a:lnTo>
                  <a:cubicBezTo>
                    <a:pt x="2831" y="1712"/>
                    <a:pt x="2237" y="1210"/>
                    <a:pt x="1507" y="1210"/>
                  </a:cubicBezTo>
                  <a:cubicBezTo>
                    <a:pt x="662" y="1210"/>
                    <a:pt x="0" y="1872"/>
                    <a:pt x="0" y="2716"/>
                  </a:cubicBezTo>
                  <a:cubicBezTo>
                    <a:pt x="0" y="3538"/>
                    <a:pt x="662" y="4200"/>
                    <a:pt x="1507" y="4200"/>
                  </a:cubicBezTo>
                  <a:cubicBezTo>
                    <a:pt x="2237" y="4200"/>
                    <a:pt x="2831" y="3698"/>
                    <a:pt x="2968" y="3013"/>
                  </a:cubicBezTo>
                  <a:lnTo>
                    <a:pt x="19311" y="3013"/>
                  </a:lnTo>
                  <a:cubicBezTo>
                    <a:pt x="19585" y="4040"/>
                    <a:pt x="20520" y="4816"/>
                    <a:pt x="21639" y="4816"/>
                  </a:cubicBezTo>
                  <a:cubicBezTo>
                    <a:pt x="22963" y="4816"/>
                    <a:pt x="24035" y="3743"/>
                    <a:pt x="24035" y="2397"/>
                  </a:cubicBezTo>
                  <a:cubicBezTo>
                    <a:pt x="24035" y="1073"/>
                    <a:pt x="22963" y="0"/>
                    <a:pt x="216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9"/>
            <p:cNvSpPr/>
            <p:nvPr/>
          </p:nvSpPr>
          <p:spPr>
            <a:xfrm>
              <a:off x="6108775" y="2821250"/>
              <a:ext cx="390350" cy="150100"/>
            </a:xfrm>
            <a:custGeom>
              <a:avLst/>
              <a:gdLst/>
              <a:ahLst/>
              <a:cxnLst/>
              <a:rect l="l" t="t" r="r" b="b"/>
              <a:pathLst>
                <a:path w="15614" h="6004" extrusionOk="0">
                  <a:moveTo>
                    <a:pt x="12623" y="1"/>
                  </a:moveTo>
                  <a:cubicBezTo>
                    <a:pt x="11162" y="1"/>
                    <a:pt x="9953" y="1028"/>
                    <a:pt x="9679" y="2397"/>
                  </a:cubicBezTo>
                  <a:lnTo>
                    <a:pt x="2968" y="2397"/>
                  </a:lnTo>
                  <a:cubicBezTo>
                    <a:pt x="2831" y="1712"/>
                    <a:pt x="2215" y="1210"/>
                    <a:pt x="1484" y="1210"/>
                  </a:cubicBezTo>
                  <a:cubicBezTo>
                    <a:pt x="663" y="1210"/>
                    <a:pt x="1" y="1872"/>
                    <a:pt x="1" y="2717"/>
                  </a:cubicBezTo>
                  <a:cubicBezTo>
                    <a:pt x="1" y="3539"/>
                    <a:pt x="663" y="4200"/>
                    <a:pt x="1484" y="4200"/>
                  </a:cubicBezTo>
                  <a:cubicBezTo>
                    <a:pt x="2215" y="4200"/>
                    <a:pt x="2831" y="3698"/>
                    <a:pt x="2968" y="3014"/>
                  </a:cubicBezTo>
                  <a:lnTo>
                    <a:pt x="9610" y="3014"/>
                  </a:lnTo>
                  <a:cubicBezTo>
                    <a:pt x="9610" y="4657"/>
                    <a:pt x="10957" y="6004"/>
                    <a:pt x="12623" y="6004"/>
                  </a:cubicBezTo>
                  <a:cubicBezTo>
                    <a:pt x="14267" y="6004"/>
                    <a:pt x="15613" y="4657"/>
                    <a:pt x="15613" y="3014"/>
                  </a:cubicBezTo>
                  <a:cubicBezTo>
                    <a:pt x="15613" y="1347"/>
                    <a:pt x="14267" y="1"/>
                    <a:pt x="1262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9"/>
            <p:cNvSpPr/>
            <p:nvPr/>
          </p:nvSpPr>
          <p:spPr>
            <a:xfrm>
              <a:off x="6228625" y="2956500"/>
              <a:ext cx="150650" cy="150100"/>
            </a:xfrm>
            <a:custGeom>
              <a:avLst/>
              <a:gdLst/>
              <a:ahLst/>
              <a:cxnLst/>
              <a:rect l="l" t="t" r="r" b="b"/>
              <a:pathLst>
                <a:path w="6026" h="6004" extrusionOk="0">
                  <a:moveTo>
                    <a:pt x="3013" y="0"/>
                  </a:moveTo>
                  <a:cubicBezTo>
                    <a:pt x="1347" y="0"/>
                    <a:pt x="0" y="1347"/>
                    <a:pt x="0" y="3013"/>
                  </a:cubicBezTo>
                  <a:cubicBezTo>
                    <a:pt x="0" y="4657"/>
                    <a:pt x="1347" y="6003"/>
                    <a:pt x="3013" y="6003"/>
                  </a:cubicBezTo>
                  <a:cubicBezTo>
                    <a:pt x="4679" y="6003"/>
                    <a:pt x="6026" y="4657"/>
                    <a:pt x="6026" y="3013"/>
                  </a:cubicBezTo>
                  <a:cubicBezTo>
                    <a:pt x="6026" y="1347"/>
                    <a:pt x="4679" y="0"/>
                    <a:pt x="301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9"/>
            <p:cNvSpPr/>
            <p:nvPr/>
          </p:nvSpPr>
          <p:spPr>
            <a:xfrm>
              <a:off x="5762975" y="3677775"/>
              <a:ext cx="616300" cy="150675"/>
            </a:xfrm>
            <a:custGeom>
              <a:avLst/>
              <a:gdLst/>
              <a:ahLst/>
              <a:cxnLst/>
              <a:rect l="l" t="t" r="r" b="b"/>
              <a:pathLst>
                <a:path w="24652" h="6027" extrusionOk="0">
                  <a:moveTo>
                    <a:pt x="21639" y="0"/>
                  </a:moveTo>
                  <a:cubicBezTo>
                    <a:pt x="20178" y="0"/>
                    <a:pt x="18968" y="1027"/>
                    <a:pt x="18695" y="2420"/>
                  </a:cubicBezTo>
                  <a:lnTo>
                    <a:pt x="4725" y="2420"/>
                  </a:lnTo>
                  <a:cubicBezTo>
                    <a:pt x="4452" y="1370"/>
                    <a:pt x="3516" y="617"/>
                    <a:pt x="2397" y="617"/>
                  </a:cubicBezTo>
                  <a:cubicBezTo>
                    <a:pt x="1073" y="617"/>
                    <a:pt x="1" y="1689"/>
                    <a:pt x="1" y="3013"/>
                  </a:cubicBezTo>
                  <a:cubicBezTo>
                    <a:pt x="1" y="4337"/>
                    <a:pt x="1073" y="5410"/>
                    <a:pt x="2397" y="5410"/>
                  </a:cubicBezTo>
                  <a:cubicBezTo>
                    <a:pt x="3721" y="5410"/>
                    <a:pt x="4817" y="4337"/>
                    <a:pt x="4817" y="3013"/>
                  </a:cubicBezTo>
                  <a:lnTo>
                    <a:pt x="18626" y="3013"/>
                  </a:lnTo>
                  <a:cubicBezTo>
                    <a:pt x="18626" y="4679"/>
                    <a:pt x="19973" y="6026"/>
                    <a:pt x="21639" y="6026"/>
                  </a:cubicBezTo>
                  <a:cubicBezTo>
                    <a:pt x="23305" y="6026"/>
                    <a:pt x="24652" y="4679"/>
                    <a:pt x="24652" y="3013"/>
                  </a:cubicBezTo>
                  <a:cubicBezTo>
                    <a:pt x="24652" y="1347"/>
                    <a:pt x="23305" y="0"/>
                    <a:pt x="216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9"/>
            <p:cNvSpPr/>
            <p:nvPr/>
          </p:nvSpPr>
          <p:spPr>
            <a:xfrm>
              <a:off x="5762975" y="3542525"/>
              <a:ext cx="736150" cy="150675"/>
            </a:xfrm>
            <a:custGeom>
              <a:avLst/>
              <a:gdLst/>
              <a:ahLst/>
              <a:cxnLst/>
              <a:rect l="l" t="t" r="r" b="b"/>
              <a:pathLst>
                <a:path w="29446" h="6027" extrusionOk="0">
                  <a:moveTo>
                    <a:pt x="26455" y="1"/>
                  </a:moveTo>
                  <a:cubicBezTo>
                    <a:pt x="24994" y="1"/>
                    <a:pt x="23785" y="1028"/>
                    <a:pt x="23511" y="2420"/>
                  </a:cubicBezTo>
                  <a:lnTo>
                    <a:pt x="4725" y="2420"/>
                  </a:lnTo>
                  <a:cubicBezTo>
                    <a:pt x="4452" y="1370"/>
                    <a:pt x="3516" y="617"/>
                    <a:pt x="2397" y="617"/>
                  </a:cubicBezTo>
                  <a:cubicBezTo>
                    <a:pt x="1073" y="617"/>
                    <a:pt x="1" y="1690"/>
                    <a:pt x="1" y="3014"/>
                  </a:cubicBezTo>
                  <a:cubicBezTo>
                    <a:pt x="1" y="4338"/>
                    <a:pt x="1073" y="5410"/>
                    <a:pt x="2397" y="5410"/>
                  </a:cubicBezTo>
                  <a:cubicBezTo>
                    <a:pt x="3721" y="5410"/>
                    <a:pt x="4817" y="4338"/>
                    <a:pt x="4817" y="3014"/>
                  </a:cubicBezTo>
                  <a:lnTo>
                    <a:pt x="23442" y="3014"/>
                  </a:lnTo>
                  <a:cubicBezTo>
                    <a:pt x="23442" y="4680"/>
                    <a:pt x="24789" y="6027"/>
                    <a:pt x="26455" y="6027"/>
                  </a:cubicBezTo>
                  <a:cubicBezTo>
                    <a:pt x="28099" y="6027"/>
                    <a:pt x="29445" y="4680"/>
                    <a:pt x="29445" y="3014"/>
                  </a:cubicBezTo>
                  <a:cubicBezTo>
                    <a:pt x="29445" y="1347"/>
                    <a:pt x="28099" y="1"/>
                    <a:pt x="2645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9"/>
            <p:cNvSpPr/>
            <p:nvPr/>
          </p:nvSpPr>
          <p:spPr>
            <a:xfrm>
              <a:off x="5822900" y="3798175"/>
              <a:ext cx="421150" cy="180350"/>
            </a:xfrm>
            <a:custGeom>
              <a:avLst/>
              <a:gdLst/>
              <a:ahLst/>
              <a:cxnLst/>
              <a:rect l="l" t="t" r="r" b="b"/>
              <a:pathLst>
                <a:path w="16846" h="7214" extrusionOk="0">
                  <a:moveTo>
                    <a:pt x="13239" y="0"/>
                  </a:moveTo>
                  <a:cubicBezTo>
                    <a:pt x="11436" y="0"/>
                    <a:pt x="9975" y="1301"/>
                    <a:pt x="9678" y="3013"/>
                  </a:cubicBezTo>
                  <a:lnTo>
                    <a:pt x="3493" y="3013"/>
                  </a:lnTo>
                  <a:cubicBezTo>
                    <a:pt x="3264" y="2306"/>
                    <a:pt x="2602" y="1804"/>
                    <a:pt x="1803" y="1804"/>
                  </a:cubicBezTo>
                  <a:cubicBezTo>
                    <a:pt x="822" y="1804"/>
                    <a:pt x="0" y="2603"/>
                    <a:pt x="0" y="3607"/>
                  </a:cubicBezTo>
                  <a:cubicBezTo>
                    <a:pt x="0" y="4611"/>
                    <a:pt x="822" y="5410"/>
                    <a:pt x="1803" y="5410"/>
                  </a:cubicBezTo>
                  <a:cubicBezTo>
                    <a:pt x="2808" y="5410"/>
                    <a:pt x="3607" y="4611"/>
                    <a:pt x="3607" y="3607"/>
                  </a:cubicBezTo>
                  <a:lnTo>
                    <a:pt x="9633" y="3607"/>
                  </a:lnTo>
                  <a:cubicBezTo>
                    <a:pt x="9633" y="5593"/>
                    <a:pt x="11230" y="7213"/>
                    <a:pt x="13239" y="7213"/>
                  </a:cubicBezTo>
                  <a:cubicBezTo>
                    <a:pt x="15225" y="7213"/>
                    <a:pt x="16845" y="5593"/>
                    <a:pt x="16845" y="3607"/>
                  </a:cubicBezTo>
                  <a:cubicBezTo>
                    <a:pt x="16845" y="1621"/>
                    <a:pt x="15225" y="0"/>
                    <a:pt x="132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9"/>
            <p:cNvSpPr/>
            <p:nvPr/>
          </p:nvSpPr>
          <p:spPr>
            <a:xfrm>
              <a:off x="5913050" y="3963650"/>
              <a:ext cx="150675" cy="150100"/>
            </a:xfrm>
            <a:custGeom>
              <a:avLst/>
              <a:gdLst/>
              <a:ahLst/>
              <a:cxnLst/>
              <a:rect l="l" t="t" r="r" b="b"/>
              <a:pathLst>
                <a:path w="6027" h="6004" extrusionOk="0">
                  <a:moveTo>
                    <a:pt x="3014" y="1"/>
                  </a:moveTo>
                  <a:cubicBezTo>
                    <a:pt x="1347" y="1"/>
                    <a:pt x="1" y="1347"/>
                    <a:pt x="1" y="2991"/>
                  </a:cubicBezTo>
                  <a:cubicBezTo>
                    <a:pt x="1" y="4657"/>
                    <a:pt x="1347" y="6004"/>
                    <a:pt x="3014" y="6004"/>
                  </a:cubicBezTo>
                  <a:cubicBezTo>
                    <a:pt x="4680" y="6004"/>
                    <a:pt x="6027" y="4657"/>
                    <a:pt x="6027" y="2991"/>
                  </a:cubicBezTo>
                  <a:cubicBezTo>
                    <a:pt x="6027" y="1347"/>
                    <a:pt x="4680" y="1"/>
                    <a:pt x="301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9"/>
            <p:cNvSpPr/>
            <p:nvPr/>
          </p:nvSpPr>
          <p:spPr>
            <a:xfrm>
              <a:off x="5822900" y="4113725"/>
              <a:ext cx="376075" cy="120425"/>
            </a:xfrm>
            <a:custGeom>
              <a:avLst/>
              <a:gdLst/>
              <a:ahLst/>
              <a:cxnLst/>
              <a:rect l="l" t="t" r="r" b="b"/>
              <a:pathLst>
                <a:path w="15043" h="4817" extrusionOk="0">
                  <a:moveTo>
                    <a:pt x="2420" y="1"/>
                  </a:moveTo>
                  <a:cubicBezTo>
                    <a:pt x="1073" y="1"/>
                    <a:pt x="0" y="1074"/>
                    <a:pt x="0" y="2397"/>
                  </a:cubicBezTo>
                  <a:cubicBezTo>
                    <a:pt x="0" y="3721"/>
                    <a:pt x="1073" y="4817"/>
                    <a:pt x="2420" y="4817"/>
                  </a:cubicBezTo>
                  <a:cubicBezTo>
                    <a:pt x="3538" y="4817"/>
                    <a:pt x="4474" y="4041"/>
                    <a:pt x="4748" y="3014"/>
                  </a:cubicBezTo>
                  <a:lnTo>
                    <a:pt x="11527" y="3014"/>
                  </a:lnTo>
                  <a:cubicBezTo>
                    <a:pt x="11778" y="3699"/>
                    <a:pt x="12440" y="4201"/>
                    <a:pt x="13239" y="4201"/>
                  </a:cubicBezTo>
                  <a:cubicBezTo>
                    <a:pt x="14220" y="4201"/>
                    <a:pt x="15042" y="3402"/>
                    <a:pt x="15042" y="2397"/>
                  </a:cubicBezTo>
                  <a:cubicBezTo>
                    <a:pt x="15042" y="1416"/>
                    <a:pt x="14220" y="594"/>
                    <a:pt x="13239" y="594"/>
                  </a:cubicBezTo>
                  <a:cubicBezTo>
                    <a:pt x="12235" y="594"/>
                    <a:pt x="11436" y="1416"/>
                    <a:pt x="11436" y="2397"/>
                  </a:cubicBezTo>
                  <a:lnTo>
                    <a:pt x="4816" y="2397"/>
                  </a:lnTo>
                  <a:cubicBezTo>
                    <a:pt x="4816" y="1074"/>
                    <a:pt x="3744" y="1"/>
                    <a:pt x="24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9"/>
            <p:cNvSpPr/>
            <p:nvPr/>
          </p:nvSpPr>
          <p:spPr>
            <a:xfrm>
              <a:off x="5777825" y="4279225"/>
              <a:ext cx="586050" cy="90175"/>
            </a:xfrm>
            <a:custGeom>
              <a:avLst/>
              <a:gdLst/>
              <a:ahLst/>
              <a:cxnLst/>
              <a:rect l="l" t="t" r="r" b="b"/>
              <a:pathLst>
                <a:path w="23442" h="3607" extrusionOk="0">
                  <a:moveTo>
                    <a:pt x="1803" y="0"/>
                  </a:moveTo>
                  <a:cubicBezTo>
                    <a:pt x="822" y="0"/>
                    <a:pt x="0" y="799"/>
                    <a:pt x="0" y="1803"/>
                  </a:cubicBezTo>
                  <a:cubicBezTo>
                    <a:pt x="0" y="2785"/>
                    <a:pt x="822" y="3607"/>
                    <a:pt x="1803" y="3607"/>
                  </a:cubicBezTo>
                  <a:cubicBezTo>
                    <a:pt x="2602" y="3607"/>
                    <a:pt x="3264" y="3104"/>
                    <a:pt x="3492" y="2397"/>
                  </a:cubicBezTo>
                  <a:lnTo>
                    <a:pt x="19949" y="2397"/>
                  </a:lnTo>
                  <a:cubicBezTo>
                    <a:pt x="20200" y="3104"/>
                    <a:pt x="20862" y="3607"/>
                    <a:pt x="21638" y="3607"/>
                  </a:cubicBezTo>
                  <a:cubicBezTo>
                    <a:pt x="22643" y="3607"/>
                    <a:pt x="23442" y="2785"/>
                    <a:pt x="23442" y="1803"/>
                  </a:cubicBezTo>
                  <a:cubicBezTo>
                    <a:pt x="23442" y="799"/>
                    <a:pt x="22643" y="0"/>
                    <a:pt x="21638" y="0"/>
                  </a:cubicBezTo>
                  <a:cubicBezTo>
                    <a:pt x="20657" y="0"/>
                    <a:pt x="19835" y="799"/>
                    <a:pt x="19835" y="1803"/>
                  </a:cubicBezTo>
                  <a:lnTo>
                    <a:pt x="3606" y="1803"/>
                  </a:lnTo>
                  <a:cubicBezTo>
                    <a:pt x="3606" y="799"/>
                    <a:pt x="2808" y="0"/>
                    <a:pt x="180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9"/>
            <p:cNvSpPr/>
            <p:nvPr/>
          </p:nvSpPr>
          <p:spPr>
            <a:xfrm>
              <a:off x="5867975" y="2535925"/>
              <a:ext cx="676225" cy="119875"/>
            </a:xfrm>
            <a:custGeom>
              <a:avLst/>
              <a:gdLst/>
              <a:ahLst/>
              <a:cxnLst/>
              <a:rect l="l" t="t" r="r" b="b"/>
              <a:pathLst>
                <a:path w="27049" h="4795" extrusionOk="0">
                  <a:moveTo>
                    <a:pt x="24652" y="1"/>
                  </a:moveTo>
                  <a:cubicBezTo>
                    <a:pt x="23328" y="1"/>
                    <a:pt x="22255" y="1074"/>
                    <a:pt x="22255" y="2398"/>
                  </a:cubicBezTo>
                  <a:lnTo>
                    <a:pt x="2991" y="2398"/>
                  </a:lnTo>
                  <a:cubicBezTo>
                    <a:pt x="2854" y="1713"/>
                    <a:pt x="2237" y="1188"/>
                    <a:pt x="1507" y="1188"/>
                  </a:cubicBezTo>
                  <a:cubicBezTo>
                    <a:pt x="685" y="1188"/>
                    <a:pt x="0" y="1873"/>
                    <a:pt x="0" y="2694"/>
                  </a:cubicBezTo>
                  <a:cubicBezTo>
                    <a:pt x="0" y="3539"/>
                    <a:pt x="685" y="4201"/>
                    <a:pt x="1507" y="4201"/>
                  </a:cubicBezTo>
                  <a:cubicBezTo>
                    <a:pt x="2237" y="4201"/>
                    <a:pt x="2854" y="3676"/>
                    <a:pt x="2991" y="2991"/>
                  </a:cubicBezTo>
                  <a:lnTo>
                    <a:pt x="22324" y="2991"/>
                  </a:lnTo>
                  <a:cubicBezTo>
                    <a:pt x="22598" y="4041"/>
                    <a:pt x="23533" y="4794"/>
                    <a:pt x="24652" y="4794"/>
                  </a:cubicBezTo>
                  <a:cubicBezTo>
                    <a:pt x="25976" y="4794"/>
                    <a:pt x="27048" y="3721"/>
                    <a:pt x="27048" y="2398"/>
                  </a:cubicBezTo>
                  <a:cubicBezTo>
                    <a:pt x="27048" y="1074"/>
                    <a:pt x="25976" y="1"/>
                    <a:pt x="246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9"/>
            <p:cNvSpPr/>
            <p:nvPr/>
          </p:nvSpPr>
          <p:spPr>
            <a:xfrm>
              <a:off x="5793225" y="3392450"/>
              <a:ext cx="750975" cy="150100"/>
            </a:xfrm>
            <a:custGeom>
              <a:avLst/>
              <a:gdLst/>
              <a:ahLst/>
              <a:cxnLst/>
              <a:rect l="l" t="t" r="r" b="b"/>
              <a:pathLst>
                <a:path w="30039" h="6004" extrusionOk="0">
                  <a:moveTo>
                    <a:pt x="2990" y="1"/>
                  </a:moveTo>
                  <a:cubicBezTo>
                    <a:pt x="1347" y="1"/>
                    <a:pt x="0" y="1347"/>
                    <a:pt x="0" y="2991"/>
                  </a:cubicBezTo>
                  <a:cubicBezTo>
                    <a:pt x="0" y="4657"/>
                    <a:pt x="1347" y="6004"/>
                    <a:pt x="2990" y="6004"/>
                  </a:cubicBezTo>
                  <a:cubicBezTo>
                    <a:pt x="4451" y="6004"/>
                    <a:pt x="5661" y="4977"/>
                    <a:pt x="5935" y="3607"/>
                  </a:cubicBezTo>
                  <a:lnTo>
                    <a:pt x="25314" y="3607"/>
                  </a:lnTo>
                  <a:cubicBezTo>
                    <a:pt x="25588" y="4634"/>
                    <a:pt x="26523" y="5410"/>
                    <a:pt x="27642" y="5410"/>
                  </a:cubicBezTo>
                  <a:cubicBezTo>
                    <a:pt x="28966" y="5410"/>
                    <a:pt x="30038" y="4337"/>
                    <a:pt x="30038" y="2991"/>
                  </a:cubicBezTo>
                  <a:cubicBezTo>
                    <a:pt x="30038" y="1667"/>
                    <a:pt x="28966" y="594"/>
                    <a:pt x="27642" y="594"/>
                  </a:cubicBezTo>
                  <a:cubicBezTo>
                    <a:pt x="26318" y="594"/>
                    <a:pt x="25245" y="1667"/>
                    <a:pt x="25245" y="2991"/>
                  </a:cubicBezTo>
                  <a:lnTo>
                    <a:pt x="6003" y="2991"/>
                  </a:lnTo>
                  <a:cubicBezTo>
                    <a:pt x="6003" y="1347"/>
                    <a:pt x="4657" y="1"/>
                    <a:pt x="299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9"/>
            <p:cNvSpPr/>
            <p:nvPr/>
          </p:nvSpPr>
          <p:spPr>
            <a:xfrm>
              <a:off x="5913050" y="3241800"/>
              <a:ext cx="616300" cy="150675"/>
            </a:xfrm>
            <a:custGeom>
              <a:avLst/>
              <a:gdLst/>
              <a:ahLst/>
              <a:cxnLst/>
              <a:rect l="l" t="t" r="r" b="b"/>
              <a:pathLst>
                <a:path w="24652" h="6027" extrusionOk="0">
                  <a:moveTo>
                    <a:pt x="3014" y="1"/>
                  </a:moveTo>
                  <a:cubicBezTo>
                    <a:pt x="1347" y="1"/>
                    <a:pt x="1" y="1348"/>
                    <a:pt x="1" y="3014"/>
                  </a:cubicBezTo>
                  <a:cubicBezTo>
                    <a:pt x="1" y="4680"/>
                    <a:pt x="1347" y="6027"/>
                    <a:pt x="3014" y="6027"/>
                  </a:cubicBezTo>
                  <a:cubicBezTo>
                    <a:pt x="4474" y="6027"/>
                    <a:pt x="5684" y="5000"/>
                    <a:pt x="5958" y="3607"/>
                  </a:cubicBezTo>
                  <a:lnTo>
                    <a:pt x="20543" y="3607"/>
                  </a:lnTo>
                  <a:cubicBezTo>
                    <a:pt x="20795" y="4497"/>
                    <a:pt x="21593" y="5114"/>
                    <a:pt x="22552" y="5114"/>
                  </a:cubicBezTo>
                  <a:cubicBezTo>
                    <a:pt x="23716" y="5114"/>
                    <a:pt x="24652" y="4178"/>
                    <a:pt x="24652" y="3014"/>
                  </a:cubicBezTo>
                  <a:cubicBezTo>
                    <a:pt x="24652" y="1850"/>
                    <a:pt x="23716" y="914"/>
                    <a:pt x="22552" y="914"/>
                  </a:cubicBezTo>
                  <a:cubicBezTo>
                    <a:pt x="21388" y="914"/>
                    <a:pt x="20452" y="1850"/>
                    <a:pt x="20452" y="3014"/>
                  </a:cubicBezTo>
                  <a:lnTo>
                    <a:pt x="6027" y="3014"/>
                  </a:lnTo>
                  <a:cubicBezTo>
                    <a:pt x="6027" y="1348"/>
                    <a:pt x="4680" y="1"/>
                    <a:pt x="301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9"/>
            <p:cNvSpPr/>
            <p:nvPr/>
          </p:nvSpPr>
          <p:spPr>
            <a:xfrm>
              <a:off x="6063700" y="3091725"/>
              <a:ext cx="405750" cy="180350"/>
            </a:xfrm>
            <a:custGeom>
              <a:avLst/>
              <a:gdLst/>
              <a:ahLst/>
              <a:cxnLst/>
              <a:rect l="l" t="t" r="r" b="b"/>
              <a:pathLst>
                <a:path w="16230" h="7214" extrusionOk="0">
                  <a:moveTo>
                    <a:pt x="3607" y="1"/>
                  </a:moveTo>
                  <a:cubicBezTo>
                    <a:pt x="1598" y="1"/>
                    <a:pt x="1" y="1621"/>
                    <a:pt x="1" y="3607"/>
                  </a:cubicBezTo>
                  <a:cubicBezTo>
                    <a:pt x="1" y="5593"/>
                    <a:pt x="1598" y="7214"/>
                    <a:pt x="3607" y="7214"/>
                  </a:cubicBezTo>
                  <a:cubicBezTo>
                    <a:pt x="5593" y="7214"/>
                    <a:pt x="7213" y="5593"/>
                    <a:pt x="7213" y="3607"/>
                  </a:cubicBezTo>
                  <a:lnTo>
                    <a:pt x="12029" y="3607"/>
                  </a:lnTo>
                  <a:cubicBezTo>
                    <a:pt x="12189" y="4634"/>
                    <a:pt x="13057" y="5410"/>
                    <a:pt x="14129" y="5410"/>
                  </a:cubicBezTo>
                  <a:cubicBezTo>
                    <a:pt x="15271" y="5410"/>
                    <a:pt x="16229" y="4475"/>
                    <a:pt x="16229" y="3310"/>
                  </a:cubicBezTo>
                  <a:cubicBezTo>
                    <a:pt x="16229" y="2146"/>
                    <a:pt x="15271" y="1211"/>
                    <a:pt x="14129" y="1211"/>
                  </a:cubicBezTo>
                  <a:cubicBezTo>
                    <a:pt x="13057" y="1211"/>
                    <a:pt x="12189" y="1987"/>
                    <a:pt x="12029" y="3014"/>
                  </a:cubicBezTo>
                  <a:lnTo>
                    <a:pt x="7145" y="3014"/>
                  </a:lnTo>
                  <a:cubicBezTo>
                    <a:pt x="6871" y="1302"/>
                    <a:pt x="5387" y="1"/>
                    <a:pt x="360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FA01A85-EC7F-4EA5-9D4E-EE4A1DF6B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78680"/>
              </p:ext>
            </p:extLst>
          </p:nvPr>
        </p:nvGraphicFramePr>
        <p:xfrm>
          <a:off x="157816" y="895032"/>
          <a:ext cx="8725425" cy="3894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Google Shape;365;p49">
            <a:extLst>
              <a:ext uri="{FF2B5EF4-FFF2-40B4-BE49-F238E27FC236}">
                <a16:creationId xmlns:a16="http://schemas.microsoft.com/office/drawing/2014/main" id="{9A01988C-EC1E-4CA2-BBB0-AA20EC3B42BC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CA" sz="3200" dirty="0">
                <a:solidFill>
                  <a:srgbClr val="CCEAFA"/>
                </a:solidFill>
                <a:latin typeface="Archivo Black" panose="020B0604020202020204" charset="0"/>
                <a:cs typeface="Archivo Black" panose="020B0604020202020204" charset="0"/>
              </a:rPr>
              <a:t>WORKFLOW</a:t>
            </a:r>
            <a:endParaRPr lang="en-CA" sz="3200" dirty="0">
              <a:solidFill>
                <a:srgbClr val="CCEAFA"/>
              </a:solidFill>
              <a:latin typeface="Archivo Black" panose="020B0604020202020204" charset="0"/>
              <a:ea typeface="Archivo"/>
              <a:cs typeface="Archivo Black" panose="020B0604020202020204" charset="0"/>
              <a:sym typeface="Archivo"/>
            </a:endParaRPr>
          </a:p>
        </p:txBody>
      </p:sp>
      <p:grpSp>
        <p:nvGrpSpPr>
          <p:cNvPr id="5" name="Google Shape;373;p49">
            <a:extLst>
              <a:ext uri="{FF2B5EF4-FFF2-40B4-BE49-F238E27FC236}">
                <a16:creationId xmlns:a16="http://schemas.microsoft.com/office/drawing/2014/main" id="{480F130B-A3FF-41E6-8CEA-04426704E942}"/>
              </a:ext>
            </a:extLst>
          </p:cNvPr>
          <p:cNvGrpSpPr/>
          <p:nvPr/>
        </p:nvGrpSpPr>
        <p:grpSpPr>
          <a:xfrm rot="-5400000" flipH="1">
            <a:off x="1197782" y="-1603253"/>
            <a:ext cx="1714476" cy="4320564"/>
            <a:chOff x="5762975" y="2535925"/>
            <a:chExt cx="781225" cy="1968725"/>
          </a:xfrm>
        </p:grpSpPr>
        <p:sp>
          <p:nvSpPr>
            <p:cNvPr id="6" name="Google Shape;374;p49">
              <a:extLst>
                <a:ext uri="{FF2B5EF4-FFF2-40B4-BE49-F238E27FC236}">
                  <a16:creationId xmlns:a16="http://schemas.microsoft.com/office/drawing/2014/main" id="{F4F26B8A-66B4-4EF1-85B1-05837D5754AB}"/>
                </a:ext>
              </a:extLst>
            </p:cNvPr>
            <p:cNvSpPr/>
            <p:nvPr/>
          </p:nvSpPr>
          <p:spPr>
            <a:xfrm>
              <a:off x="5777825" y="4414450"/>
              <a:ext cx="691625" cy="90200"/>
            </a:xfrm>
            <a:custGeom>
              <a:avLst/>
              <a:gdLst/>
              <a:ahLst/>
              <a:cxnLst/>
              <a:rect l="l" t="t" r="r" b="b"/>
              <a:pathLst>
                <a:path w="27665" h="3608" extrusionOk="0">
                  <a:moveTo>
                    <a:pt x="1803" y="1"/>
                  </a:moveTo>
                  <a:cubicBezTo>
                    <a:pt x="822" y="1"/>
                    <a:pt x="0" y="800"/>
                    <a:pt x="0" y="1804"/>
                  </a:cubicBezTo>
                  <a:cubicBezTo>
                    <a:pt x="0" y="2785"/>
                    <a:pt x="822" y="3607"/>
                    <a:pt x="1803" y="3607"/>
                  </a:cubicBezTo>
                  <a:cubicBezTo>
                    <a:pt x="2808" y="3607"/>
                    <a:pt x="3606" y="2785"/>
                    <a:pt x="3606" y="1804"/>
                  </a:cubicBezTo>
                  <a:lnTo>
                    <a:pt x="24058" y="1804"/>
                  </a:lnTo>
                  <a:cubicBezTo>
                    <a:pt x="24058" y="2785"/>
                    <a:pt x="24857" y="3607"/>
                    <a:pt x="25861" y="3607"/>
                  </a:cubicBezTo>
                  <a:cubicBezTo>
                    <a:pt x="26843" y="3607"/>
                    <a:pt x="27664" y="2785"/>
                    <a:pt x="27664" y="1804"/>
                  </a:cubicBezTo>
                  <a:cubicBezTo>
                    <a:pt x="27664" y="800"/>
                    <a:pt x="26843" y="1"/>
                    <a:pt x="25861" y="1"/>
                  </a:cubicBezTo>
                  <a:cubicBezTo>
                    <a:pt x="25062" y="1"/>
                    <a:pt x="24400" y="503"/>
                    <a:pt x="24172" y="1188"/>
                  </a:cubicBezTo>
                  <a:lnTo>
                    <a:pt x="3492" y="1188"/>
                  </a:lnTo>
                  <a:cubicBezTo>
                    <a:pt x="3264" y="503"/>
                    <a:pt x="2602" y="1"/>
                    <a:pt x="180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75;p49">
              <a:extLst>
                <a:ext uri="{FF2B5EF4-FFF2-40B4-BE49-F238E27FC236}">
                  <a16:creationId xmlns:a16="http://schemas.microsoft.com/office/drawing/2014/main" id="{850E1D46-DB55-4BE6-9119-17D4CD8140F9}"/>
                </a:ext>
              </a:extLst>
            </p:cNvPr>
            <p:cNvSpPr/>
            <p:nvPr/>
          </p:nvSpPr>
          <p:spPr>
            <a:xfrm>
              <a:off x="5943300" y="2686025"/>
              <a:ext cx="600900" cy="120425"/>
            </a:xfrm>
            <a:custGeom>
              <a:avLst/>
              <a:gdLst/>
              <a:ahLst/>
              <a:cxnLst/>
              <a:rect l="l" t="t" r="r" b="b"/>
              <a:pathLst>
                <a:path w="24036" h="4817" extrusionOk="0">
                  <a:moveTo>
                    <a:pt x="21639" y="0"/>
                  </a:moveTo>
                  <a:cubicBezTo>
                    <a:pt x="20315" y="0"/>
                    <a:pt x="19242" y="1073"/>
                    <a:pt x="19242" y="2397"/>
                  </a:cubicBezTo>
                  <a:lnTo>
                    <a:pt x="2968" y="2397"/>
                  </a:lnTo>
                  <a:cubicBezTo>
                    <a:pt x="2831" y="1712"/>
                    <a:pt x="2237" y="1210"/>
                    <a:pt x="1507" y="1210"/>
                  </a:cubicBezTo>
                  <a:cubicBezTo>
                    <a:pt x="662" y="1210"/>
                    <a:pt x="0" y="1872"/>
                    <a:pt x="0" y="2716"/>
                  </a:cubicBezTo>
                  <a:cubicBezTo>
                    <a:pt x="0" y="3538"/>
                    <a:pt x="662" y="4200"/>
                    <a:pt x="1507" y="4200"/>
                  </a:cubicBezTo>
                  <a:cubicBezTo>
                    <a:pt x="2237" y="4200"/>
                    <a:pt x="2831" y="3698"/>
                    <a:pt x="2968" y="3013"/>
                  </a:cubicBezTo>
                  <a:lnTo>
                    <a:pt x="19311" y="3013"/>
                  </a:lnTo>
                  <a:cubicBezTo>
                    <a:pt x="19585" y="4040"/>
                    <a:pt x="20520" y="4816"/>
                    <a:pt x="21639" y="4816"/>
                  </a:cubicBezTo>
                  <a:cubicBezTo>
                    <a:pt x="22963" y="4816"/>
                    <a:pt x="24035" y="3743"/>
                    <a:pt x="24035" y="2397"/>
                  </a:cubicBezTo>
                  <a:cubicBezTo>
                    <a:pt x="24035" y="1073"/>
                    <a:pt x="22963" y="0"/>
                    <a:pt x="216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76;p49">
              <a:extLst>
                <a:ext uri="{FF2B5EF4-FFF2-40B4-BE49-F238E27FC236}">
                  <a16:creationId xmlns:a16="http://schemas.microsoft.com/office/drawing/2014/main" id="{09A707B0-B88C-4C9D-8BE4-ABD8371AFC69}"/>
                </a:ext>
              </a:extLst>
            </p:cNvPr>
            <p:cNvSpPr/>
            <p:nvPr/>
          </p:nvSpPr>
          <p:spPr>
            <a:xfrm>
              <a:off x="6108775" y="2821250"/>
              <a:ext cx="390350" cy="150100"/>
            </a:xfrm>
            <a:custGeom>
              <a:avLst/>
              <a:gdLst/>
              <a:ahLst/>
              <a:cxnLst/>
              <a:rect l="l" t="t" r="r" b="b"/>
              <a:pathLst>
                <a:path w="15614" h="6004" extrusionOk="0">
                  <a:moveTo>
                    <a:pt x="12623" y="1"/>
                  </a:moveTo>
                  <a:cubicBezTo>
                    <a:pt x="11162" y="1"/>
                    <a:pt x="9953" y="1028"/>
                    <a:pt x="9679" y="2397"/>
                  </a:cubicBezTo>
                  <a:lnTo>
                    <a:pt x="2968" y="2397"/>
                  </a:lnTo>
                  <a:cubicBezTo>
                    <a:pt x="2831" y="1712"/>
                    <a:pt x="2215" y="1210"/>
                    <a:pt x="1484" y="1210"/>
                  </a:cubicBezTo>
                  <a:cubicBezTo>
                    <a:pt x="663" y="1210"/>
                    <a:pt x="1" y="1872"/>
                    <a:pt x="1" y="2717"/>
                  </a:cubicBezTo>
                  <a:cubicBezTo>
                    <a:pt x="1" y="3539"/>
                    <a:pt x="663" y="4200"/>
                    <a:pt x="1484" y="4200"/>
                  </a:cubicBezTo>
                  <a:cubicBezTo>
                    <a:pt x="2215" y="4200"/>
                    <a:pt x="2831" y="3698"/>
                    <a:pt x="2968" y="3014"/>
                  </a:cubicBezTo>
                  <a:lnTo>
                    <a:pt x="9610" y="3014"/>
                  </a:lnTo>
                  <a:cubicBezTo>
                    <a:pt x="9610" y="4657"/>
                    <a:pt x="10957" y="6004"/>
                    <a:pt x="12623" y="6004"/>
                  </a:cubicBezTo>
                  <a:cubicBezTo>
                    <a:pt x="14267" y="6004"/>
                    <a:pt x="15613" y="4657"/>
                    <a:pt x="15613" y="3014"/>
                  </a:cubicBezTo>
                  <a:cubicBezTo>
                    <a:pt x="15613" y="1347"/>
                    <a:pt x="14267" y="1"/>
                    <a:pt x="1262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77;p49">
              <a:extLst>
                <a:ext uri="{FF2B5EF4-FFF2-40B4-BE49-F238E27FC236}">
                  <a16:creationId xmlns:a16="http://schemas.microsoft.com/office/drawing/2014/main" id="{6CEBA094-1E62-4AB1-B07F-436542804C8A}"/>
                </a:ext>
              </a:extLst>
            </p:cNvPr>
            <p:cNvSpPr/>
            <p:nvPr/>
          </p:nvSpPr>
          <p:spPr>
            <a:xfrm>
              <a:off x="6228625" y="2956500"/>
              <a:ext cx="150650" cy="150100"/>
            </a:xfrm>
            <a:custGeom>
              <a:avLst/>
              <a:gdLst/>
              <a:ahLst/>
              <a:cxnLst/>
              <a:rect l="l" t="t" r="r" b="b"/>
              <a:pathLst>
                <a:path w="6026" h="6004" extrusionOk="0">
                  <a:moveTo>
                    <a:pt x="3013" y="0"/>
                  </a:moveTo>
                  <a:cubicBezTo>
                    <a:pt x="1347" y="0"/>
                    <a:pt x="0" y="1347"/>
                    <a:pt x="0" y="3013"/>
                  </a:cubicBezTo>
                  <a:cubicBezTo>
                    <a:pt x="0" y="4657"/>
                    <a:pt x="1347" y="6003"/>
                    <a:pt x="3013" y="6003"/>
                  </a:cubicBezTo>
                  <a:cubicBezTo>
                    <a:pt x="4679" y="6003"/>
                    <a:pt x="6026" y="4657"/>
                    <a:pt x="6026" y="3013"/>
                  </a:cubicBezTo>
                  <a:cubicBezTo>
                    <a:pt x="6026" y="1347"/>
                    <a:pt x="4679" y="0"/>
                    <a:pt x="301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8;p49">
              <a:extLst>
                <a:ext uri="{FF2B5EF4-FFF2-40B4-BE49-F238E27FC236}">
                  <a16:creationId xmlns:a16="http://schemas.microsoft.com/office/drawing/2014/main" id="{5FCEE1AA-36ED-4F01-9698-0BA21DBBCEB9}"/>
                </a:ext>
              </a:extLst>
            </p:cNvPr>
            <p:cNvSpPr/>
            <p:nvPr/>
          </p:nvSpPr>
          <p:spPr>
            <a:xfrm>
              <a:off x="5762975" y="3677775"/>
              <a:ext cx="616300" cy="150675"/>
            </a:xfrm>
            <a:custGeom>
              <a:avLst/>
              <a:gdLst/>
              <a:ahLst/>
              <a:cxnLst/>
              <a:rect l="l" t="t" r="r" b="b"/>
              <a:pathLst>
                <a:path w="24652" h="6027" extrusionOk="0">
                  <a:moveTo>
                    <a:pt x="21639" y="0"/>
                  </a:moveTo>
                  <a:cubicBezTo>
                    <a:pt x="20178" y="0"/>
                    <a:pt x="18968" y="1027"/>
                    <a:pt x="18695" y="2420"/>
                  </a:cubicBezTo>
                  <a:lnTo>
                    <a:pt x="4725" y="2420"/>
                  </a:lnTo>
                  <a:cubicBezTo>
                    <a:pt x="4452" y="1370"/>
                    <a:pt x="3516" y="617"/>
                    <a:pt x="2397" y="617"/>
                  </a:cubicBezTo>
                  <a:cubicBezTo>
                    <a:pt x="1073" y="617"/>
                    <a:pt x="1" y="1689"/>
                    <a:pt x="1" y="3013"/>
                  </a:cubicBezTo>
                  <a:cubicBezTo>
                    <a:pt x="1" y="4337"/>
                    <a:pt x="1073" y="5410"/>
                    <a:pt x="2397" y="5410"/>
                  </a:cubicBezTo>
                  <a:cubicBezTo>
                    <a:pt x="3721" y="5410"/>
                    <a:pt x="4817" y="4337"/>
                    <a:pt x="4817" y="3013"/>
                  </a:cubicBezTo>
                  <a:lnTo>
                    <a:pt x="18626" y="3013"/>
                  </a:lnTo>
                  <a:cubicBezTo>
                    <a:pt x="18626" y="4679"/>
                    <a:pt x="19973" y="6026"/>
                    <a:pt x="21639" y="6026"/>
                  </a:cubicBezTo>
                  <a:cubicBezTo>
                    <a:pt x="23305" y="6026"/>
                    <a:pt x="24652" y="4679"/>
                    <a:pt x="24652" y="3013"/>
                  </a:cubicBezTo>
                  <a:cubicBezTo>
                    <a:pt x="24652" y="1347"/>
                    <a:pt x="23305" y="0"/>
                    <a:pt x="216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79;p49">
              <a:extLst>
                <a:ext uri="{FF2B5EF4-FFF2-40B4-BE49-F238E27FC236}">
                  <a16:creationId xmlns:a16="http://schemas.microsoft.com/office/drawing/2014/main" id="{F7A6B1E8-0C43-4B8D-9F08-E7208A381A09}"/>
                </a:ext>
              </a:extLst>
            </p:cNvPr>
            <p:cNvSpPr/>
            <p:nvPr/>
          </p:nvSpPr>
          <p:spPr>
            <a:xfrm>
              <a:off x="5762975" y="3542525"/>
              <a:ext cx="736150" cy="150675"/>
            </a:xfrm>
            <a:custGeom>
              <a:avLst/>
              <a:gdLst/>
              <a:ahLst/>
              <a:cxnLst/>
              <a:rect l="l" t="t" r="r" b="b"/>
              <a:pathLst>
                <a:path w="29446" h="6027" extrusionOk="0">
                  <a:moveTo>
                    <a:pt x="26455" y="1"/>
                  </a:moveTo>
                  <a:cubicBezTo>
                    <a:pt x="24994" y="1"/>
                    <a:pt x="23785" y="1028"/>
                    <a:pt x="23511" y="2420"/>
                  </a:cubicBezTo>
                  <a:lnTo>
                    <a:pt x="4725" y="2420"/>
                  </a:lnTo>
                  <a:cubicBezTo>
                    <a:pt x="4452" y="1370"/>
                    <a:pt x="3516" y="617"/>
                    <a:pt x="2397" y="617"/>
                  </a:cubicBezTo>
                  <a:cubicBezTo>
                    <a:pt x="1073" y="617"/>
                    <a:pt x="1" y="1690"/>
                    <a:pt x="1" y="3014"/>
                  </a:cubicBezTo>
                  <a:cubicBezTo>
                    <a:pt x="1" y="4338"/>
                    <a:pt x="1073" y="5410"/>
                    <a:pt x="2397" y="5410"/>
                  </a:cubicBezTo>
                  <a:cubicBezTo>
                    <a:pt x="3721" y="5410"/>
                    <a:pt x="4817" y="4338"/>
                    <a:pt x="4817" y="3014"/>
                  </a:cubicBezTo>
                  <a:lnTo>
                    <a:pt x="23442" y="3014"/>
                  </a:lnTo>
                  <a:cubicBezTo>
                    <a:pt x="23442" y="4680"/>
                    <a:pt x="24789" y="6027"/>
                    <a:pt x="26455" y="6027"/>
                  </a:cubicBezTo>
                  <a:cubicBezTo>
                    <a:pt x="28099" y="6027"/>
                    <a:pt x="29445" y="4680"/>
                    <a:pt x="29445" y="3014"/>
                  </a:cubicBezTo>
                  <a:cubicBezTo>
                    <a:pt x="29445" y="1347"/>
                    <a:pt x="28099" y="1"/>
                    <a:pt x="2645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0;p49">
              <a:extLst>
                <a:ext uri="{FF2B5EF4-FFF2-40B4-BE49-F238E27FC236}">
                  <a16:creationId xmlns:a16="http://schemas.microsoft.com/office/drawing/2014/main" id="{82E57250-16F9-4BF2-BC45-00583B5E74A3}"/>
                </a:ext>
              </a:extLst>
            </p:cNvPr>
            <p:cNvSpPr/>
            <p:nvPr/>
          </p:nvSpPr>
          <p:spPr>
            <a:xfrm>
              <a:off x="5822900" y="3798175"/>
              <a:ext cx="421150" cy="180350"/>
            </a:xfrm>
            <a:custGeom>
              <a:avLst/>
              <a:gdLst/>
              <a:ahLst/>
              <a:cxnLst/>
              <a:rect l="l" t="t" r="r" b="b"/>
              <a:pathLst>
                <a:path w="16846" h="7214" extrusionOk="0">
                  <a:moveTo>
                    <a:pt x="13239" y="0"/>
                  </a:moveTo>
                  <a:cubicBezTo>
                    <a:pt x="11436" y="0"/>
                    <a:pt x="9975" y="1301"/>
                    <a:pt x="9678" y="3013"/>
                  </a:cubicBezTo>
                  <a:lnTo>
                    <a:pt x="3493" y="3013"/>
                  </a:lnTo>
                  <a:cubicBezTo>
                    <a:pt x="3264" y="2306"/>
                    <a:pt x="2602" y="1804"/>
                    <a:pt x="1803" y="1804"/>
                  </a:cubicBezTo>
                  <a:cubicBezTo>
                    <a:pt x="822" y="1804"/>
                    <a:pt x="0" y="2603"/>
                    <a:pt x="0" y="3607"/>
                  </a:cubicBezTo>
                  <a:cubicBezTo>
                    <a:pt x="0" y="4611"/>
                    <a:pt x="822" y="5410"/>
                    <a:pt x="1803" y="5410"/>
                  </a:cubicBezTo>
                  <a:cubicBezTo>
                    <a:pt x="2808" y="5410"/>
                    <a:pt x="3607" y="4611"/>
                    <a:pt x="3607" y="3607"/>
                  </a:cubicBezTo>
                  <a:lnTo>
                    <a:pt x="9633" y="3607"/>
                  </a:lnTo>
                  <a:cubicBezTo>
                    <a:pt x="9633" y="5593"/>
                    <a:pt x="11230" y="7213"/>
                    <a:pt x="13239" y="7213"/>
                  </a:cubicBezTo>
                  <a:cubicBezTo>
                    <a:pt x="15225" y="7213"/>
                    <a:pt x="16845" y="5593"/>
                    <a:pt x="16845" y="3607"/>
                  </a:cubicBezTo>
                  <a:cubicBezTo>
                    <a:pt x="16845" y="1621"/>
                    <a:pt x="15225" y="0"/>
                    <a:pt x="1323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1;p49">
              <a:extLst>
                <a:ext uri="{FF2B5EF4-FFF2-40B4-BE49-F238E27FC236}">
                  <a16:creationId xmlns:a16="http://schemas.microsoft.com/office/drawing/2014/main" id="{9E371898-2F1B-4A2A-A8D6-1F422CEBD678}"/>
                </a:ext>
              </a:extLst>
            </p:cNvPr>
            <p:cNvSpPr/>
            <p:nvPr/>
          </p:nvSpPr>
          <p:spPr>
            <a:xfrm>
              <a:off x="5913050" y="3963650"/>
              <a:ext cx="150675" cy="150100"/>
            </a:xfrm>
            <a:custGeom>
              <a:avLst/>
              <a:gdLst/>
              <a:ahLst/>
              <a:cxnLst/>
              <a:rect l="l" t="t" r="r" b="b"/>
              <a:pathLst>
                <a:path w="6027" h="6004" extrusionOk="0">
                  <a:moveTo>
                    <a:pt x="3014" y="1"/>
                  </a:moveTo>
                  <a:cubicBezTo>
                    <a:pt x="1347" y="1"/>
                    <a:pt x="1" y="1347"/>
                    <a:pt x="1" y="2991"/>
                  </a:cubicBezTo>
                  <a:cubicBezTo>
                    <a:pt x="1" y="4657"/>
                    <a:pt x="1347" y="6004"/>
                    <a:pt x="3014" y="6004"/>
                  </a:cubicBezTo>
                  <a:cubicBezTo>
                    <a:pt x="4680" y="6004"/>
                    <a:pt x="6027" y="4657"/>
                    <a:pt x="6027" y="2991"/>
                  </a:cubicBezTo>
                  <a:cubicBezTo>
                    <a:pt x="6027" y="1347"/>
                    <a:pt x="4680" y="1"/>
                    <a:pt x="301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2;p49">
              <a:extLst>
                <a:ext uri="{FF2B5EF4-FFF2-40B4-BE49-F238E27FC236}">
                  <a16:creationId xmlns:a16="http://schemas.microsoft.com/office/drawing/2014/main" id="{D7CD447E-EB04-4B3A-ACB3-6B76AABDDB93}"/>
                </a:ext>
              </a:extLst>
            </p:cNvPr>
            <p:cNvSpPr/>
            <p:nvPr/>
          </p:nvSpPr>
          <p:spPr>
            <a:xfrm>
              <a:off x="5822900" y="4113725"/>
              <a:ext cx="376075" cy="120425"/>
            </a:xfrm>
            <a:custGeom>
              <a:avLst/>
              <a:gdLst/>
              <a:ahLst/>
              <a:cxnLst/>
              <a:rect l="l" t="t" r="r" b="b"/>
              <a:pathLst>
                <a:path w="15043" h="4817" extrusionOk="0">
                  <a:moveTo>
                    <a:pt x="2420" y="1"/>
                  </a:moveTo>
                  <a:cubicBezTo>
                    <a:pt x="1073" y="1"/>
                    <a:pt x="0" y="1074"/>
                    <a:pt x="0" y="2397"/>
                  </a:cubicBezTo>
                  <a:cubicBezTo>
                    <a:pt x="0" y="3721"/>
                    <a:pt x="1073" y="4817"/>
                    <a:pt x="2420" y="4817"/>
                  </a:cubicBezTo>
                  <a:cubicBezTo>
                    <a:pt x="3538" y="4817"/>
                    <a:pt x="4474" y="4041"/>
                    <a:pt x="4748" y="3014"/>
                  </a:cubicBezTo>
                  <a:lnTo>
                    <a:pt x="11527" y="3014"/>
                  </a:lnTo>
                  <a:cubicBezTo>
                    <a:pt x="11778" y="3699"/>
                    <a:pt x="12440" y="4201"/>
                    <a:pt x="13239" y="4201"/>
                  </a:cubicBezTo>
                  <a:cubicBezTo>
                    <a:pt x="14220" y="4201"/>
                    <a:pt x="15042" y="3402"/>
                    <a:pt x="15042" y="2397"/>
                  </a:cubicBezTo>
                  <a:cubicBezTo>
                    <a:pt x="15042" y="1416"/>
                    <a:pt x="14220" y="594"/>
                    <a:pt x="13239" y="594"/>
                  </a:cubicBezTo>
                  <a:cubicBezTo>
                    <a:pt x="12235" y="594"/>
                    <a:pt x="11436" y="1416"/>
                    <a:pt x="11436" y="2397"/>
                  </a:cubicBezTo>
                  <a:lnTo>
                    <a:pt x="4816" y="2397"/>
                  </a:lnTo>
                  <a:cubicBezTo>
                    <a:pt x="4816" y="1074"/>
                    <a:pt x="3744" y="1"/>
                    <a:pt x="24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3;p49">
              <a:extLst>
                <a:ext uri="{FF2B5EF4-FFF2-40B4-BE49-F238E27FC236}">
                  <a16:creationId xmlns:a16="http://schemas.microsoft.com/office/drawing/2014/main" id="{3FC68C4D-27ED-4281-87AC-2ED92955AFA9}"/>
                </a:ext>
              </a:extLst>
            </p:cNvPr>
            <p:cNvSpPr/>
            <p:nvPr/>
          </p:nvSpPr>
          <p:spPr>
            <a:xfrm>
              <a:off x="5777825" y="4279225"/>
              <a:ext cx="586050" cy="90175"/>
            </a:xfrm>
            <a:custGeom>
              <a:avLst/>
              <a:gdLst/>
              <a:ahLst/>
              <a:cxnLst/>
              <a:rect l="l" t="t" r="r" b="b"/>
              <a:pathLst>
                <a:path w="23442" h="3607" extrusionOk="0">
                  <a:moveTo>
                    <a:pt x="1803" y="0"/>
                  </a:moveTo>
                  <a:cubicBezTo>
                    <a:pt x="822" y="0"/>
                    <a:pt x="0" y="799"/>
                    <a:pt x="0" y="1803"/>
                  </a:cubicBezTo>
                  <a:cubicBezTo>
                    <a:pt x="0" y="2785"/>
                    <a:pt x="822" y="3607"/>
                    <a:pt x="1803" y="3607"/>
                  </a:cubicBezTo>
                  <a:cubicBezTo>
                    <a:pt x="2602" y="3607"/>
                    <a:pt x="3264" y="3104"/>
                    <a:pt x="3492" y="2397"/>
                  </a:cubicBezTo>
                  <a:lnTo>
                    <a:pt x="19949" y="2397"/>
                  </a:lnTo>
                  <a:cubicBezTo>
                    <a:pt x="20200" y="3104"/>
                    <a:pt x="20862" y="3607"/>
                    <a:pt x="21638" y="3607"/>
                  </a:cubicBezTo>
                  <a:cubicBezTo>
                    <a:pt x="22643" y="3607"/>
                    <a:pt x="23442" y="2785"/>
                    <a:pt x="23442" y="1803"/>
                  </a:cubicBezTo>
                  <a:cubicBezTo>
                    <a:pt x="23442" y="799"/>
                    <a:pt x="22643" y="0"/>
                    <a:pt x="21638" y="0"/>
                  </a:cubicBezTo>
                  <a:cubicBezTo>
                    <a:pt x="20657" y="0"/>
                    <a:pt x="19835" y="799"/>
                    <a:pt x="19835" y="1803"/>
                  </a:cubicBezTo>
                  <a:lnTo>
                    <a:pt x="3606" y="1803"/>
                  </a:lnTo>
                  <a:cubicBezTo>
                    <a:pt x="3606" y="799"/>
                    <a:pt x="2808" y="0"/>
                    <a:pt x="180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4;p49">
              <a:extLst>
                <a:ext uri="{FF2B5EF4-FFF2-40B4-BE49-F238E27FC236}">
                  <a16:creationId xmlns:a16="http://schemas.microsoft.com/office/drawing/2014/main" id="{A58DC0D0-61AF-499D-9C61-C0BBCDD54317}"/>
                </a:ext>
              </a:extLst>
            </p:cNvPr>
            <p:cNvSpPr/>
            <p:nvPr/>
          </p:nvSpPr>
          <p:spPr>
            <a:xfrm>
              <a:off x="5867975" y="2535925"/>
              <a:ext cx="676225" cy="119875"/>
            </a:xfrm>
            <a:custGeom>
              <a:avLst/>
              <a:gdLst/>
              <a:ahLst/>
              <a:cxnLst/>
              <a:rect l="l" t="t" r="r" b="b"/>
              <a:pathLst>
                <a:path w="27049" h="4795" extrusionOk="0">
                  <a:moveTo>
                    <a:pt x="24652" y="1"/>
                  </a:moveTo>
                  <a:cubicBezTo>
                    <a:pt x="23328" y="1"/>
                    <a:pt x="22255" y="1074"/>
                    <a:pt x="22255" y="2398"/>
                  </a:cubicBezTo>
                  <a:lnTo>
                    <a:pt x="2991" y="2398"/>
                  </a:lnTo>
                  <a:cubicBezTo>
                    <a:pt x="2854" y="1713"/>
                    <a:pt x="2237" y="1188"/>
                    <a:pt x="1507" y="1188"/>
                  </a:cubicBezTo>
                  <a:cubicBezTo>
                    <a:pt x="685" y="1188"/>
                    <a:pt x="0" y="1873"/>
                    <a:pt x="0" y="2694"/>
                  </a:cubicBezTo>
                  <a:cubicBezTo>
                    <a:pt x="0" y="3539"/>
                    <a:pt x="685" y="4201"/>
                    <a:pt x="1507" y="4201"/>
                  </a:cubicBezTo>
                  <a:cubicBezTo>
                    <a:pt x="2237" y="4201"/>
                    <a:pt x="2854" y="3676"/>
                    <a:pt x="2991" y="2991"/>
                  </a:cubicBezTo>
                  <a:lnTo>
                    <a:pt x="22324" y="2991"/>
                  </a:lnTo>
                  <a:cubicBezTo>
                    <a:pt x="22598" y="4041"/>
                    <a:pt x="23533" y="4794"/>
                    <a:pt x="24652" y="4794"/>
                  </a:cubicBezTo>
                  <a:cubicBezTo>
                    <a:pt x="25976" y="4794"/>
                    <a:pt x="27048" y="3721"/>
                    <a:pt x="27048" y="2398"/>
                  </a:cubicBezTo>
                  <a:cubicBezTo>
                    <a:pt x="27048" y="1074"/>
                    <a:pt x="25976" y="1"/>
                    <a:pt x="246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5;p49">
              <a:extLst>
                <a:ext uri="{FF2B5EF4-FFF2-40B4-BE49-F238E27FC236}">
                  <a16:creationId xmlns:a16="http://schemas.microsoft.com/office/drawing/2014/main" id="{D8E5A7D7-3D4B-4584-AD5C-E86B4F0F99AB}"/>
                </a:ext>
              </a:extLst>
            </p:cNvPr>
            <p:cNvSpPr/>
            <p:nvPr/>
          </p:nvSpPr>
          <p:spPr>
            <a:xfrm>
              <a:off x="5793225" y="3392450"/>
              <a:ext cx="750975" cy="150100"/>
            </a:xfrm>
            <a:custGeom>
              <a:avLst/>
              <a:gdLst/>
              <a:ahLst/>
              <a:cxnLst/>
              <a:rect l="l" t="t" r="r" b="b"/>
              <a:pathLst>
                <a:path w="30039" h="6004" extrusionOk="0">
                  <a:moveTo>
                    <a:pt x="2990" y="1"/>
                  </a:moveTo>
                  <a:cubicBezTo>
                    <a:pt x="1347" y="1"/>
                    <a:pt x="0" y="1347"/>
                    <a:pt x="0" y="2991"/>
                  </a:cubicBezTo>
                  <a:cubicBezTo>
                    <a:pt x="0" y="4657"/>
                    <a:pt x="1347" y="6004"/>
                    <a:pt x="2990" y="6004"/>
                  </a:cubicBezTo>
                  <a:cubicBezTo>
                    <a:pt x="4451" y="6004"/>
                    <a:pt x="5661" y="4977"/>
                    <a:pt x="5935" y="3607"/>
                  </a:cubicBezTo>
                  <a:lnTo>
                    <a:pt x="25314" y="3607"/>
                  </a:lnTo>
                  <a:cubicBezTo>
                    <a:pt x="25588" y="4634"/>
                    <a:pt x="26523" y="5410"/>
                    <a:pt x="27642" y="5410"/>
                  </a:cubicBezTo>
                  <a:cubicBezTo>
                    <a:pt x="28966" y="5410"/>
                    <a:pt x="30038" y="4337"/>
                    <a:pt x="30038" y="2991"/>
                  </a:cubicBezTo>
                  <a:cubicBezTo>
                    <a:pt x="30038" y="1667"/>
                    <a:pt x="28966" y="594"/>
                    <a:pt x="27642" y="594"/>
                  </a:cubicBezTo>
                  <a:cubicBezTo>
                    <a:pt x="26318" y="594"/>
                    <a:pt x="25245" y="1667"/>
                    <a:pt x="25245" y="2991"/>
                  </a:cubicBezTo>
                  <a:lnTo>
                    <a:pt x="6003" y="2991"/>
                  </a:lnTo>
                  <a:cubicBezTo>
                    <a:pt x="6003" y="1347"/>
                    <a:pt x="4657" y="1"/>
                    <a:pt x="299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6;p49">
              <a:extLst>
                <a:ext uri="{FF2B5EF4-FFF2-40B4-BE49-F238E27FC236}">
                  <a16:creationId xmlns:a16="http://schemas.microsoft.com/office/drawing/2014/main" id="{62256685-11FB-4CFE-A32B-0CD39E794E01}"/>
                </a:ext>
              </a:extLst>
            </p:cNvPr>
            <p:cNvSpPr/>
            <p:nvPr/>
          </p:nvSpPr>
          <p:spPr>
            <a:xfrm>
              <a:off x="5913050" y="3241800"/>
              <a:ext cx="616300" cy="150675"/>
            </a:xfrm>
            <a:custGeom>
              <a:avLst/>
              <a:gdLst/>
              <a:ahLst/>
              <a:cxnLst/>
              <a:rect l="l" t="t" r="r" b="b"/>
              <a:pathLst>
                <a:path w="24652" h="6027" extrusionOk="0">
                  <a:moveTo>
                    <a:pt x="3014" y="1"/>
                  </a:moveTo>
                  <a:cubicBezTo>
                    <a:pt x="1347" y="1"/>
                    <a:pt x="1" y="1348"/>
                    <a:pt x="1" y="3014"/>
                  </a:cubicBezTo>
                  <a:cubicBezTo>
                    <a:pt x="1" y="4680"/>
                    <a:pt x="1347" y="6027"/>
                    <a:pt x="3014" y="6027"/>
                  </a:cubicBezTo>
                  <a:cubicBezTo>
                    <a:pt x="4474" y="6027"/>
                    <a:pt x="5684" y="5000"/>
                    <a:pt x="5958" y="3607"/>
                  </a:cubicBezTo>
                  <a:lnTo>
                    <a:pt x="20543" y="3607"/>
                  </a:lnTo>
                  <a:cubicBezTo>
                    <a:pt x="20795" y="4497"/>
                    <a:pt x="21593" y="5114"/>
                    <a:pt x="22552" y="5114"/>
                  </a:cubicBezTo>
                  <a:cubicBezTo>
                    <a:pt x="23716" y="5114"/>
                    <a:pt x="24652" y="4178"/>
                    <a:pt x="24652" y="3014"/>
                  </a:cubicBezTo>
                  <a:cubicBezTo>
                    <a:pt x="24652" y="1850"/>
                    <a:pt x="23716" y="914"/>
                    <a:pt x="22552" y="914"/>
                  </a:cubicBezTo>
                  <a:cubicBezTo>
                    <a:pt x="21388" y="914"/>
                    <a:pt x="20452" y="1850"/>
                    <a:pt x="20452" y="3014"/>
                  </a:cubicBezTo>
                  <a:lnTo>
                    <a:pt x="6027" y="3014"/>
                  </a:lnTo>
                  <a:cubicBezTo>
                    <a:pt x="6027" y="1348"/>
                    <a:pt x="4680" y="1"/>
                    <a:pt x="301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7;p49">
              <a:extLst>
                <a:ext uri="{FF2B5EF4-FFF2-40B4-BE49-F238E27FC236}">
                  <a16:creationId xmlns:a16="http://schemas.microsoft.com/office/drawing/2014/main" id="{23DCCABC-4FE2-4AB4-BCA2-B65BEC1F15C2}"/>
                </a:ext>
              </a:extLst>
            </p:cNvPr>
            <p:cNvSpPr/>
            <p:nvPr/>
          </p:nvSpPr>
          <p:spPr>
            <a:xfrm>
              <a:off x="6063700" y="3091725"/>
              <a:ext cx="405750" cy="180350"/>
            </a:xfrm>
            <a:custGeom>
              <a:avLst/>
              <a:gdLst/>
              <a:ahLst/>
              <a:cxnLst/>
              <a:rect l="l" t="t" r="r" b="b"/>
              <a:pathLst>
                <a:path w="16230" h="7214" extrusionOk="0">
                  <a:moveTo>
                    <a:pt x="3607" y="1"/>
                  </a:moveTo>
                  <a:cubicBezTo>
                    <a:pt x="1598" y="1"/>
                    <a:pt x="1" y="1621"/>
                    <a:pt x="1" y="3607"/>
                  </a:cubicBezTo>
                  <a:cubicBezTo>
                    <a:pt x="1" y="5593"/>
                    <a:pt x="1598" y="7214"/>
                    <a:pt x="3607" y="7214"/>
                  </a:cubicBezTo>
                  <a:cubicBezTo>
                    <a:pt x="5593" y="7214"/>
                    <a:pt x="7213" y="5593"/>
                    <a:pt x="7213" y="3607"/>
                  </a:cubicBezTo>
                  <a:lnTo>
                    <a:pt x="12029" y="3607"/>
                  </a:lnTo>
                  <a:cubicBezTo>
                    <a:pt x="12189" y="4634"/>
                    <a:pt x="13057" y="5410"/>
                    <a:pt x="14129" y="5410"/>
                  </a:cubicBezTo>
                  <a:cubicBezTo>
                    <a:pt x="15271" y="5410"/>
                    <a:pt x="16229" y="4475"/>
                    <a:pt x="16229" y="3310"/>
                  </a:cubicBezTo>
                  <a:cubicBezTo>
                    <a:pt x="16229" y="2146"/>
                    <a:pt x="15271" y="1211"/>
                    <a:pt x="14129" y="1211"/>
                  </a:cubicBezTo>
                  <a:cubicBezTo>
                    <a:pt x="13057" y="1211"/>
                    <a:pt x="12189" y="1987"/>
                    <a:pt x="12029" y="3014"/>
                  </a:cubicBezTo>
                  <a:lnTo>
                    <a:pt x="7145" y="3014"/>
                  </a:lnTo>
                  <a:cubicBezTo>
                    <a:pt x="6871" y="1302"/>
                    <a:pt x="5387" y="1"/>
                    <a:pt x="360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35316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/>
                <a:ea typeface="Archivo"/>
                <a:cs typeface="Archivo"/>
                <a:sym typeface="Archivo"/>
              </a:rPr>
              <a:t>CURRENT</a:t>
            </a:r>
            <a:r>
              <a:rPr lang="en" dirty="0"/>
              <a:t> DATA</a:t>
            </a:r>
            <a:endParaRPr dirty="0"/>
          </a:p>
        </p:txBody>
      </p:sp>
      <p:sp>
        <p:nvSpPr>
          <p:cNvPr id="439" name="Google Shape;439;p52"/>
          <p:cNvSpPr txBox="1">
            <a:spLocks noGrp="1"/>
          </p:cNvSpPr>
          <p:nvPr>
            <p:ph type="subTitle" idx="4294967295"/>
          </p:nvPr>
        </p:nvSpPr>
        <p:spPr>
          <a:xfrm>
            <a:off x="1172965" y="1404700"/>
            <a:ext cx="24915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/>
              <a:t>SCZ</a:t>
            </a:r>
            <a:endParaRPr b="1" dirty="0"/>
          </a:p>
        </p:txBody>
      </p:sp>
      <p:sp>
        <p:nvSpPr>
          <p:cNvPr id="440" name="Google Shape;440;p52"/>
          <p:cNvSpPr txBox="1">
            <a:spLocks noGrp="1"/>
          </p:cNvSpPr>
          <p:nvPr>
            <p:ph type="subTitle" idx="4294967295"/>
          </p:nvPr>
        </p:nvSpPr>
        <p:spPr>
          <a:xfrm>
            <a:off x="5594840" y="1393825"/>
            <a:ext cx="2491500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/>
              <a:t>ASD</a:t>
            </a:r>
            <a:endParaRPr b="1" dirty="0"/>
          </a:p>
        </p:txBody>
      </p:sp>
      <p:sp>
        <p:nvSpPr>
          <p:cNvPr id="442" name="Google Shape;442;p52"/>
          <p:cNvSpPr/>
          <p:nvPr/>
        </p:nvSpPr>
        <p:spPr>
          <a:xfrm>
            <a:off x="713100" y="1886425"/>
            <a:ext cx="7717800" cy="61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52"/>
          <p:cNvSpPr/>
          <p:nvPr/>
        </p:nvSpPr>
        <p:spPr>
          <a:xfrm>
            <a:off x="713100" y="1112200"/>
            <a:ext cx="7717800" cy="61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BC82F7-831E-4D42-B64E-F046D00C3E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1"/>
          <a:stretch/>
        </p:blipFill>
        <p:spPr bwMode="auto">
          <a:xfrm>
            <a:off x="65979" y="2247481"/>
            <a:ext cx="4705472" cy="189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496078B-A191-42A7-B5B9-7CA05887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143" y="2043664"/>
            <a:ext cx="3816288" cy="2962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F25371-5E3D-4156-8EB4-1EAA8C34006F}"/>
                  </a:ext>
                </a:extLst>
              </p14:cNvPr>
              <p14:cNvContentPartPr/>
              <p14:nvPr/>
            </p14:nvContentPartPr>
            <p14:xfrm>
              <a:off x="3189565" y="2576141"/>
              <a:ext cx="150048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F25371-5E3D-4156-8EB4-1EAA8C3400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35925" y="2468501"/>
                <a:ext cx="1608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4EE741-AF62-420A-B927-FED631F1D24E}"/>
                  </a:ext>
                </a:extLst>
              </p14:cNvPr>
              <p14:cNvContentPartPr/>
              <p14:nvPr/>
            </p14:nvContentPartPr>
            <p14:xfrm>
              <a:off x="5637565" y="4930181"/>
              <a:ext cx="263952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4EE741-AF62-420A-B927-FED631F1D2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83565" y="4822541"/>
                <a:ext cx="274716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SCZ QUALIY CONTROL (Test Read)</a:t>
            </a: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6" name="Google Shape;506;p54"/>
          <p:cNvSpPr txBox="1">
            <a:spLocks noGrp="1"/>
          </p:cNvSpPr>
          <p:nvPr>
            <p:ph type="subTitle" idx="4294967295"/>
          </p:nvPr>
        </p:nvSpPr>
        <p:spPr>
          <a:xfrm>
            <a:off x="713100" y="1495533"/>
            <a:ext cx="3749418" cy="6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 dirty="0">
                <a:latin typeface="Archivo Black"/>
                <a:ea typeface="Archivo Black"/>
                <a:cs typeface="Archivo Black"/>
                <a:sym typeface="Archivo Black"/>
              </a:rPr>
              <a:t>FORWARD</a:t>
            </a:r>
            <a:endParaRPr sz="4800" dirty="0"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510" name="Google Shape;510;p54"/>
          <p:cNvSpPr/>
          <p:nvPr/>
        </p:nvSpPr>
        <p:spPr>
          <a:xfrm>
            <a:off x="713100" y="1112200"/>
            <a:ext cx="7717800" cy="61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506;p54">
            <a:extLst>
              <a:ext uri="{FF2B5EF4-FFF2-40B4-BE49-F238E27FC236}">
                <a16:creationId xmlns:a16="http://schemas.microsoft.com/office/drawing/2014/main" id="{E3D72BD4-1E69-4433-A4EB-1CC9B038940B}"/>
              </a:ext>
            </a:extLst>
          </p:cNvPr>
          <p:cNvSpPr txBox="1">
            <a:spLocks/>
          </p:cNvSpPr>
          <p:nvPr/>
        </p:nvSpPr>
        <p:spPr>
          <a:xfrm>
            <a:off x="4681307" y="1504037"/>
            <a:ext cx="3749418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Char char="●"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spcAft>
                <a:spcPts val="1200"/>
              </a:spcAft>
              <a:buFont typeface="Archivo"/>
              <a:buNone/>
            </a:pPr>
            <a:r>
              <a:rPr lang="en-US" sz="4800" dirty="0">
                <a:latin typeface="Archivo Black"/>
                <a:ea typeface="Archivo Black"/>
                <a:cs typeface="Archivo Black"/>
                <a:sym typeface="Archivo Black"/>
              </a:rPr>
              <a:t>R</a:t>
            </a:r>
            <a:r>
              <a:rPr lang="en-CA" sz="4800" dirty="0">
                <a:latin typeface="Archivo Black"/>
                <a:ea typeface="Archivo Black"/>
                <a:cs typeface="Archivo Black"/>
                <a:sym typeface="Archivo Black"/>
              </a:rPr>
              <a:t>EVERSE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9B07FF-FF55-4062-84AD-76354B27A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45" y="2111161"/>
            <a:ext cx="4169467" cy="303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31E2FB1-39DF-47A4-9B4B-12672E896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307" y="2111161"/>
            <a:ext cx="4142280" cy="301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SCZ/ASD QUALIY CONTROL </a:t>
            </a: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0" name="Google Shape;510;p54"/>
          <p:cNvSpPr/>
          <p:nvPr/>
        </p:nvSpPr>
        <p:spPr>
          <a:xfrm>
            <a:off x="713100" y="1112200"/>
            <a:ext cx="7717800" cy="61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793E397-C77D-49C9-A19C-2A0263434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895" y="1389229"/>
            <a:ext cx="7500830" cy="3183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458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Archivo"/>
                <a:ea typeface="Archivo"/>
                <a:cs typeface="Archivo"/>
                <a:sym typeface="Archivo"/>
              </a:rPr>
              <a:t>TO-DO</a:t>
            </a:r>
            <a:endParaRPr b="1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3" name="Google Shape;393;p50"/>
          <p:cNvSpPr txBox="1">
            <a:spLocks noGrp="1"/>
          </p:cNvSpPr>
          <p:nvPr>
            <p:ph type="subTitle" idx="1"/>
          </p:nvPr>
        </p:nvSpPr>
        <p:spPr>
          <a:xfrm>
            <a:off x="964500" y="39668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SLEUTH</a:t>
            </a:r>
            <a:endParaRPr dirty="0"/>
          </a:p>
        </p:txBody>
      </p:sp>
      <p:sp>
        <p:nvSpPr>
          <p:cNvPr id="394" name="Google Shape;394;p50"/>
          <p:cNvSpPr txBox="1">
            <a:spLocks noGrp="1"/>
          </p:cNvSpPr>
          <p:nvPr>
            <p:ph type="subTitle" idx="2"/>
          </p:nvPr>
        </p:nvSpPr>
        <p:spPr>
          <a:xfrm>
            <a:off x="964526" y="34730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PCA CLUSTER </a:t>
            </a:r>
            <a:endParaRPr u="sng" dirty="0"/>
          </a:p>
        </p:txBody>
      </p:sp>
      <p:sp>
        <p:nvSpPr>
          <p:cNvPr id="395" name="Google Shape;395;p50"/>
          <p:cNvSpPr txBox="1">
            <a:spLocks noGrp="1"/>
          </p:cNvSpPr>
          <p:nvPr>
            <p:ph type="subTitle" idx="3"/>
          </p:nvPr>
        </p:nvSpPr>
        <p:spPr>
          <a:xfrm>
            <a:off x="6241413" y="39668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SLEUTH</a:t>
            </a:r>
            <a:endParaRPr dirty="0"/>
          </a:p>
        </p:txBody>
      </p:sp>
      <p:sp>
        <p:nvSpPr>
          <p:cNvPr id="396" name="Google Shape;396;p50"/>
          <p:cNvSpPr txBox="1">
            <a:spLocks noGrp="1"/>
          </p:cNvSpPr>
          <p:nvPr>
            <p:ph type="subTitle" idx="4"/>
          </p:nvPr>
        </p:nvSpPr>
        <p:spPr>
          <a:xfrm>
            <a:off x="6241439" y="34730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GENE ANNOTATION</a:t>
            </a:r>
            <a:endParaRPr u="sng" dirty="0"/>
          </a:p>
        </p:txBody>
      </p:sp>
      <p:sp>
        <p:nvSpPr>
          <p:cNvPr id="397" name="Google Shape;397;p50"/>
          <p:cNvSpPr txBox="1">
            <a:spLocks noGrp="1"/>
          </p:cNvSpPr>
          <p:nvPr>
            <p:ph type="subTitle" idx="5"/>
          </p:nvPr>
        </p:nvSpPr>
        <p:spPr>
          <a:xfrm>
            <a:off x="3602956" y="39668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SLEUTH</a:t>
            </a:r>
            <a:endParaRPr dirty="0"/>
          </a:p>
        </p:txBody>
      </p:sp>
      <p:sp>
        <p:nvSpPr>
          <p:cNvPr id="398" name="Google Shape;398;p50"/>
          <p:cNvSpPr txBox="1">
            <a:spLocks noGrp="1"/>
          </p:cNvSpPr>
          <p:nvPr>
            <p:ph type="subTitle" idx="6"/>
          </p:nvPr>
        </p:nvSpPr>
        <p:spPr>
          <a:xfrm>
            <a:off x="3550751" y="3473000"/>
            <a:ext cx="2062172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latin typeface="Archivo"/>
                <a:cs typeface="Archivo"/>
                <a:sym typeface="Archivo"/>
              </a:rPr>
              <a:t>DIFFERENTIAL EXPRESSION</a:t>
            </a:r>
            <a:endParaRPr b="1" u="sng" dirty="0"/>
          </a:p>
        </p:txBody>
      </p:sp>
      <p:sp>
        <p:nvSpPr>
          <p:cNvPr id="399" name="Google Shape;399;p50"/>
          <p:cNvSpPr txBox="1">
            <a:spLocks noGrp="1"/>
          </p:cNvSpPr>
          <p:nvPr>
            <p:ph type="subTitle" idx="7"/>
          </p:nvPr>
        </p:nvSpPr>
        <p:spPr>
          <a:xfrm>
            <a:off x="964538" y="23229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SRA toolkit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FastQC</a:t>
            </a:r>
            <a:endParaRPr dirty="0"/>
          </a:p>
        </p:txBody>
      </p:sp>
      <p:sp>
        <p:nvSpPr>
          <p:cNvPr id="400" name="Google Shape;400;p50"/>
          <p:cNvSpPr txBox="1">
            <a:spLocks noGrp="1"/>
          </p:cNvSpPr>
          <p:nvPr>
            <p:ph type="subTitle" idx="8"/>
          </p:nvPr>
        </p:nvSpPr>
        <p:spPr>
          <a:xfrm>
            <a:off x="964539" y="18291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latin typeface="Archivo"/>
                <a:ea typeface="Archivo"/>
                <a:cs typeface="Archivo"/>
                <a:sym typeface="Archivo"/>
              </a:rPr>
              <a:t>QC ASD + CONTROLS</a:t>
            </a:r>
            <a:endParaRPr b="1" u="sng"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1" name="Google Shape;401;p50"/>
          <p:cNvSpPr txBox="1">
            <a:spLocks noGrp="1"/>
          </p:cNvSpPr>
          <p:nvPr>
            <p:ph type="subTitle" idx="9"/>
          </p:nvPr>
        </p:nvSpPr>
        <p:spPr>
          <a:xfrm>
            <a:off x="6241450" y="23229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Kallisto</a:t>
            </a:r>
            <a:endParaRPr dirty="0"/>
          </a:p>
        </p:txBody>
      </p:sp>
      <p:sp>
        <p:nvSpPr>
          <p:cNvPr id="402" name="Google Shape;402;p50"/>
          <p:cNvSpPr txBox="1">
            <a:spLocks noGrp="1"/>
          </p:cNvSpPr>
          <p:nvPr>
            <p:ph type="subTitle" idx="13"/>
          </p:nvPr>
        </p:nvSpPr>
        <p:spPr>
          <a:xfrm>
            <a:off x="6241451" y="18291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latin typeface="Archivo"/>
                <a:ea typeface="Archivo"/>
                <a:cs typeface="Archivo"/>
                <a:sym typeface="Archivo"/>
              </a:rPr>
              <a:t>ALIGN CONTROLS</a:t>
            </a:r>
            <a:endParaRPr b="1" u="sng" dirty="0"/>
          </a:p>
        </p:txBody>
      </p:sp>
      <p:sp>
        <p:nvSpPr>
          <p:cNvPr id="403" name="Google Shape;403;p50"/>
          <p:cNvSpPr txBox="1">
            <a:spLocks noGrp="1"/>
          </p:cNvSpPr>
          <p:nvPr>
            <p:ph type="subTitle" idx="14"/>
          </p:nvPr>
        </p:nvSpPr>
        <p:spPr>
          <a:xfrm>
            <a:off x="3602994" y="2322900"/>
            <a:ext cx="19380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Kallisto</a:t>
            </a:r>
            <a:endParaRPr dirty="0"/>
          </a:p>
        </p:txBody>
      </p:sp>
      <p:sp>
        <p:nvSpPr>
          <p:cNvPr id="404" name="Google Shape;404;p50"/>
          <p:cNvSpPr txBox="1">
            <a:spLocks noGrp="1"/>
          </p:cNvSpPr>
          <p:nvPr>
            <p:ph type="subTitle" idx="15"/>
          </p:nvPr>
        </p:nvSpPr>
        <p:spPr>
          <a:xfrm>
            <a:off x="3602995" y="1829100"/>
            <a:ext cx="19380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ALIGN SCZ + ASD</a:t>
            </a:r>
            <a:endParaRPr u="sng" dirty="0"/>
          </a:p>
        </p:txBody>
      </p:sp>
      <p:grpSp>
        <p:nvGrpSpPr>
          <p:cNvPr id="405" name="Google Shape;405;p50"/>
          <p:cNvGrpSpPr/>
          <p:nvPr/>
        </p:nvGrpSpPr>
        <p:grpSpPr>
          <a:xfrm>
            <a:off x="7039205" y="1438245"/>
            <a:ext cx="356556" cy="349557"/>
            <a:chOff x="-22863675" y="3131775"/>
            <a:chExt cx="299300" cy="293425"/>
          </a:xfrm>
        </p:grpSpPr>
        <p:sp>
          <p:nvSpPr>
            <p:cNvPr id="406" name="Google Shape;406;p50"/>
            <p:cNvSpPr/>
            <p:nvPr/>
          </p:nvSpPr>
          <p:spPr>
            <a:xfrm>
              <a:off x="-22863675" y="3131775"/>
              <a:ext cx="299300" cy="293425"/>
            </a:xfrm>
            <a:custGeom>
              <a:avLst/>
              <a:gdLst/>
              <a:ahLst/>
              <a:cxnLst/>
              <a:rect l="l" t="t" r="r" b="b"/>
              <a:pathLst>
                <a:path w="11972" h="11737" extrusionOk="0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0"/>
            <p:cNvSpPr/>
            <p:nvPr/>
          </p:nvSpPr>
          <p:spPr>
            <a:xfrm>
              <a:off x="-22740025" y="3217825"/>
              <a:ext cx="52000" cy="51225"/>
            </a:xfrm>
            <a:custGeom>
              <a:avLst/>
              <a:gdLst/>
              <a:ahLst/>
              <a:cxnLst/>
              <a:rect l="l" t="t" r="r" b="b"/>
              <a:pathLst>
                <a:path w="2080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0"/>
            <p:cNvSpPr/>
            <p:nvPr/>
          </p:nvSpPr>
          <p:spPr>
            <a:xfrm>
              <a:off x="-22705375" y="33218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50"/>
          <p:cNvGrpSpPr/>
          <p:nvPr/>
        </p:nvGrpSpPr>
        <p:grpSpPr>
          <a:xfrm>
            <a:off x="4399310" y="3064933"/>
            <a:ext cx="345328" cy="352833"/>
            <a:chOff x="-24353875" y="3147725"/>
            <a:chExt cx="289875" cy="296175"/>
          </a:xfrm>
        </p:grpSpPr>
        <p:sp>
          <p:nvSpPr>
            <p:cNvPr id="410" name="Google Shape;410;p50"/>
            <p:cNvSpPr/>
            <p:nvPr/>
          </p:nvSpPr>
          <p:spPr>
            <a:xfrm>
              <a:off x="-24238100" y="3271375"/>
              <a:ext cx="52025" cy="51225"/>
            </a:xfrm>
            <a:custGeom>
              <a:avLst/>
              <a:gdLst/>
              <a:ahLst/>
              <a:cxnLst/>
              <a:rect l="l" t="t" r="r" b="b"/>
              <a:pathLst>
                <a:path w="2081" h="2049" extrusionOk="0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0"/>
            <p:cNvSpPr/>
            <p:nvPr/>
          </p:nvSpPr>
          <p:spPr>
            <a:xfrm>
              <a:off x="-24353875" y="3147725"/>
              <a:ext cx="289875" cy="296175"/>
            </a:xfrm>
            <a:custGeom>
              <a:avLst/>
              <a:gdLst/>
              <a:ahLst/>
              <a:cxnLst/>
              <a:rect l="l" t="t" r="r" b="b"/>
              <a:pathLst>
                <a:path w="11595" h="11847" extrusionOk="0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50"/>
          <p:cNvSpPr/>
          <p:nvPr/>
        </p:nvSpPr>
        <p:spPr>
          <a:xfrm>
            <a:off x="7027443" y="3069138"/>
            <a:ext cx="375349" cy="344435"/>
          </a:xfrm>
          <a:custGeom>
            <a:avLst/>
            <a:gdLst/>
            <a:ahLst/>
            <a:cxnLst/>
            <a:rect l="l" t="t" r="r" b="b"/>
            <a:pathLst>
              <a:path w="12603" h="11565" extrusionOk="0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9" name="Google Shape;419;p50"/>
          <p:cNvGrpSpPr/>
          <p:nvPr/>
        </p:nvGrpSpPr>
        <p:grpSpPr>
          <a:xfrm>
            <a:off x="1750536" y="3065707"/>
            <a:ext cx="356556" cy="351285"/>
            <a:chOff x="-25465200" y="3916150"/>
            <a:chExt cx="299300" cy="294875"/>
          </a:xfrm>
        </p:grpSpPr>
        <p:sp>
          <p:nvSpPr>
            <p:cNvPr id="420" name="Google Shape;420;p50"/>
            <p:cNvSpPr/>
            <p:nvPr/>
          </p:nvSpPr>
          <p:spPr>
            <a:xfrm>
              <a:off x="-25316350" y="3916150"/>
              <a:ext cx="150450" cy="149175"/>
            </a:xfrm>
            <a:custGeom>
              <a:avLst/>
              <a:gdLst/>
              <a:ahLst/>
              <a:cxnLst/>
              <a:rect l="l" t="t" r="r" b="b"/>
              <a:pathLst>
                <a:path w="6018" h="5967" extrusionOk="0">
                  <a:moveTo>
                    <a:pt x="3836" y="0"/>
                  </a:moveTo>
                  <a:cubicBezTo>
                    <a:pt x="3278" y="0"/>
                    <a:pt x="2726" y="214"/>
                    <a:pt x="2332" y="642"/>
                  </a:cubicBezTo>
                  <a:lnTo>
                    <a:pt x="1891" y="1083"/>
                  </a:lnTo>
                  <a:lnTo>
                    <a:pt x="2458" y="1619"/>
                  </a:lnTo>
                  <a:cubicBezTo>
                    <a:pt x="2552" y="1745"/>
                    <a:pt x="2552" y="1966"/>
                    <a:pt x="2458" y="2092"/>
                  </a:cubicBezTo>
                  <a:cubicBezTo>
                    <a:pt x="2363" y="2186"/>
                    <a:pt x="2300" y="2218"/>
                    <a:pt x="2206" y="2218"/>
                  </a:cubicBezTo>
                  <a:cubicBezTo>
                    <a:pt x="2143" y="2218"/>
                    <a:pt x="2017" y="2186"/>
                    <a:pt x="1985" y="2092"/>
                  </a:cubicBezTo>
                  <a:lnTo>
                    <a:pt x="1418" y="1556"/>
                  </a:lnTo>
                  <a:lnTo>
                    <a:pt x="946" y="2029"/>
                  </a:lnTo>
                  <a:lnTo>
                    <a:pt x="1513" y="2564"/>
                  </a:lnTo>
                  <a:cubicBezTo>
                    <a:pt x="1607" y="2690"/>
                    <a:pt x="1607" y="2911"/>
                    <a:pt x="1513" y="3037"/>
                  </a:cubicBezTo>
                  <a:cubicBezTo>
                    <a:pt x="1418" y="3131"/>
                    <a:pt x="1355" y="3163"/>
                    <a:pt x="1261" y="3163"/>
                  </a:cubicBezTo>
                  <a:cubicBezTo>
                    <a:pt x="1198" y="3163"/>
                    <a:pt x="1072" y="3131"/>
                    <a:pt x="1040" y="3037"/>
                  </a:cubicBezTo>
                  <a:lnTo>
                    <a:pt x="473" y="2501"/>
                  </a:lnTo>
                  <a:lnTo>
                    <a:pt x="1" y="3005"/>
                  </a:lnTo>
                  <a:lnTo>
                    <a:pt x="2962" y="5967"/>
                  </a:lnTo>
                  <a:lnTo>
                    <a:pt x="5388" y="3478"/>
                  </a:lnTo>
                  <a:cubicBezTo>
                    <a:pt x="5829" y="3037"/>
                    <a:pt x="6018" y="2501"/>
                    <a:pt x="5987" y="1903"/>
                  </a:cubicBezTo>
                  <a:cubicBezTo>
                    <a:pt x="5892" y="1398"/>
                    <a:pt x="5640" y="831"/>
                    <a:pt x="5167" y="453"/>
                  </a:cubicBezTo>
                  <a:cubicBezTo>
                    <a:pt x="4779" y="151"/>
                    <a:pt x="4305" y="0"/>
                    <a:pt x="3836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0"/>
            <p:cNvSpPr/>
            <p:nvPr/>
          </p:nvSpPr>
          <p:spPr>
            <a:xfrm>
              <a:off x="-25465200" y="4003875"/>
              <a:ext cx="208725" cy="207150"/>
            </a:xfrm>
            <a:custGeom>
              <a:avLst/>
              <a:gdLst/>
              <a:ahLst/>
              <a:cxnLst/>
              <a:rect l="l" t="t" r="r" b="b"/>
              <a:pathLst>
                <a:path w="8349" h="8286" extrusionOk="0">
                  <a:moveTo>
                    <a:pt x="5419" y="0"/>
                  </a:moveTo>
                  <a:lnTo>
                    <a:pt x="4883" y="567"/>
                  </a:lnTo>
                  <a:lnTo>
                    <a:pt x="5450" y="1103"/>
                  </a:lnTo>
                  <a:cubicBezTo>
                    <a:pt x="5545" y="1229"/>
                    <a:pt x="5545" y="1449"/>
                    <a:pt x="5450" y="1575"/>
                  </a:cubicBezTo>
                  <a:cubicBezTo>
                    <a:pt x="5356" y="1670"/>
                    <a:pt x="5293" y="1702"/>
                    <a:pt x="5198" y="1702"/>
                  </a:cubicBezTo>
                  <a:cubicBezTo>
                    <a:pt x="5135" y="1702"/>
                    <a:pt x="5009" y="1670"/>
                    <a:pt x="4978" y="1575"/>
                  </a:cubicBezTo>
                  <a:lnTo>
                    <a:pt x="4411" y="1040"/>
                  </a:lnTo>
                  <a:lnTo>
                    <a:pt x="3938" y="1512"/>
                  </a:lnTo>
                  <a:lnTo>
                    <a:pt x="4505" y="2048"/>
                  </a:lnTo>
                  <a:cubicBezTo>
                    <a:pt x="4631" y="2174"/>
                    <a:pt x="4631" y="2395"/>
                    <a:pt x="4505" y="2521"/>
                  </a:cubicBezTo>
                  <a:cubicBezTo>
                    <a:pt x="4411" y="2615"/>
                    <a:pt x="4348" y="2647"/>
                    <a:pt x="4253" y="2647"/>
                  </a:cubicBezTo>
                  <a:cubicBezTo>
                    <a:pt x="4190" y="2647"/>
                    <a:pt x="4064" y="2615"/>
                    <a:pt x="4033" y="2521"/>
                  </a:cubicBezTo>
                  <a:lnTo>
                    <a:pt x="3466" y="1985"/>
                  </a:lnTo>
                  <a:lnTo>
                    <a:pt x="3214" y="2237"/>
                  </a:lnTo>
                  <a:cubicBezTo>
                    <a:pt x="2773" y="2678"/>
                    <a:pt x="2458" y="3277"/>
                    <a:pt x="2363" y="3907"/>
                  </a:cubicBezTo>
                  <a:cubicBezTo>
                    <a:pt x="2300" y="4379"/>
                    <a:pt x="2111" y="4852"/>
                    <a:pt x="1733" y="5167"/>
                  </a:cubicBezTo>
                  <a:lnTo>
                    <a:pt x="410" y="6490"/>
                  </a:lnTo>
                  <a:cubicBezTo>
                    <a:pt x="0" y="6900"/>
                    <a:pt x="0" y="7561"/>
                    <a:pt x="410" y="7971"/>
                  </a:cubicBezTo>
                  <a:cubicBezTo>
                    <a:pt x="599" y="8160"/>
                    <a:pt x="882" y="8286"/>
                    <a:pt x="1166" y="8286"/>
                  </a:cubicBezTo>
                  <a:cubicBezTo>
                    <a:pt x="1418" y="8286"/>
                    <a:pt x="1701" y="8160"/>
                    <a:pt x="1890" y="7971"/>
                  </a:cubicBezTo>
                  <a:lnTo>
                    <a:pt x="3245" y="6616"/>
                  </a:lnTo>
                  <a:cubicBezTo>
                    <a:pt x="3592" y="6270"/>
                    <a:pt x="4033" y="6081"/>
                    <a:pt x="4505" y="5986"/>
                  </a:cubicBezTo>
                  <a:cubicBezTo>
                    <a:pt x="5135" y="5923"/>
                    <a:pt x="5734" y="5608"/>
                    <a:pt x="6144" y="5167"/>
                  </a:cubicBezTo>
                  <a:lnTo>
                    <a:pt x="8349" y="2962"/>
                  </a:lnTo>
                  <a:lnTo>
                    <a:pt x="5419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7" name="Google Shape;427;p50"/>
          <p:cNvSpPr/>
          <p:nvPr/>
        </p:nvSpPr>
        <p:spPr>
          <a:xfrm>
            <a:off x="713100" y="1112200"/>
            <a:ext cx="7717800" cy="61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" name="Google Shape;5831;p82">
            <a:extLst>
              <a:ext uri="{FF2B5EF4-FFF2-40B4-BE49-F238E27FC236}">
                <a16:creationId xmlns:a16="http://schemas.microsoft.com/office/drawing/2014/main" id="{2C92A3CA-45B3-41E5-AAC1-FE0BB85080B6}"/>
              </a:ext>
            </a:extLst>
          </p:cNvPr>
          <p:cNvGrpSpPr/>
          <p:nvPr/>
        </p:nvGrpSpPr>
        <p:grpSpPr>
          <a:xfrm>
            <a:off x="1687130" y="1420093"/>
            <a:ext cx="375465" cy="371814"/>
            <a:chOff x="-37385100" y="3949908"/>
            <a:chExt cx="321350" cy="318225"/>
          </a:xfrm>
          <a:gradFill flip="none" rotWithShape="1">
            <a:gsLst>
              <a:gs pos="0">
                <a:schemeClr val="accent1"/>
              </a:gs>
              <a:gs pos="64000">
                <a:schemeClr val="accent3">
                  <a:shade val="67500"/>
                  <a:satMod val="115000"/>
                </a:schemeClr>
              </a:gs>
              <a:gs pos="100000">
                <a:schemeClr val="accent3"/>
              </a:gs>
            </a:gsLst>
            <a:lin ang="2700000" scaled="1"/>
            <a:tileRect/>
          </a:gradFill>
        </p:grpSpPr>
        <p:sp>
          <p:nvSpPr>
            <p:cNvPr id="39" name="Google Shape;5832;p82">
              <a:extLst>
                <a:ext uri="{FF2B5EF4-FFF2-40B4-BE49-F238E27FC236}">
                  <a16:creationId xmlns:a16="http://schemas.microsoft.com/office/drawing/2014/main" id="{34968E3B-8E3E-49DD-B112-5B13B0FA8C6B}"/>
                </a:ext>
              </a:extLst>
            </p:cNvPr>
            <p:cNvSpPr/>
            <p:nvPr/>
          </p:nvSpPr>
          <p:spPr>
            <a:xfrm>
              <a:off x="-37190575" y="4145233"/>
              <a:ext cx="126825" cy="122900"/>
            </a:xfrm>
            <a:custGeom>
              <a:avLst/>
              <a:gdLst/>
              <a:ahLst/>
              <a:cxnLst/>
              <a:rect l="l" t="t" r="r" b="b"/>
              <a:pathLst>
                <a:path w="5073" h="4916" extrusionOk="0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833;p82">
              <a:extLst>
                <a:ext uri="{FF2B5EF4-FFF2-40B4-BE49-F238E27FC236}">
                  <a16:creationId xmlns:a16="http://schemas.microsoft.com/office/drawing/2014/main" id="{BBD48557-A2DC-42C4-B81A-A66BE4C1D48E}"/>
                </a:ext>
              </a:extLst>
            </p:cNvPr>
            <p:cNvSpPr/>
            <p:nvPr/>
          </p:nvSpPr>
          <p:spPr>
            <a:xfrm>
              <a:off x="-37385100" y="3949908"/>
              <a:ext cx="248125" cy="248950"/>
            </a:xfrm>
            <a:custGeom>
              <a:avLst/>
              <a:gdLst/>
              <a:ahLst/>
              <a:cxnLst/>
              <a:rect l="l" t="t" r="r" b="b"/>
              <a:pathLst>
                <a:path w="9925" h="9958" extrusionOk="0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7466;p85">
            <a:extLst>
              <a:ext uri="{FF2B5EF4-FFF2-40B4-BE49-F238E27FC236}">
                <a16:creationId xmlns:a16="http://schemas.microsoft.com/office/drawing/2014/main" id="{94CF0EDE-0AF6-4B2C-A656-075EC1215F6F}"/>
              </a:ext>
            </a:extLst>
          </p:cNvPr>
          <p:cNvGrpSpPr/>
          <p:nvPr/>
        </p:nvGrpSpPr>
        <p:grpSpPr>
          <a:xfrm>
            <a:off x="4421581" y="1517392"/>
            <a:ext cx="355258" cy="270410"/>
            <a:chOff x="-47523400" y="3973950"/>
            <a:chExt cx="300100" cy="228425"/>
          </a:xfrm>
          <a:gradFill flip="none" rotWithShape="1">
            <a:gsLst>
              <a:gs pos="0">
                <a:schemeClr val="accent1"/>
              </a:gs>
              <a:gs pos="64000">
                <a:schemeClr val="accent3">
                  <a:shade val="67500"/>
                  <a:satMod val="115000"/>
                </a:schemeClr>
              </a:gs>
              <a:gs pos="100000">
                <a:schemeClr val="accent3"/>
              </a:gs>
            </a:gsLst>
            <a:lin ang="13500000" scaled="1"/>
            <a:tileRect/>
          </a:gradFill>
        </p:grpSpPr>
        <p:sp>
          <p:nvSpPr>
            <p:cNvPr id="42" name="Google Shape;7467;p85">
              <a:extLst>
                <a:ext uri="{FF2B5EF4-FFF2-40B4-BE49-F238E27FC236}">
                  <a16:creationId xmlns:a16="http://schemas.microsoft.com/office/drawing/2014/main" id="{E5E673F4-1453-40E7-B7DE-3C2DFD49236E}"/>
                </a:ext>
              </a:extLst>
            </p:cNvPr>
            <p:cNvSpPr/>
            <p:nvPr/>
          </p:nvSpPr>
          <p:spPr>
            <a:xfrm>
              <a:off x="-47417075" y="4061375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0"/>
                  </a:moveTo>
                  <a:lnTo>
                    <a:pt x="0" y="630"/>
                  </a:lnTo>
                  <a:cubicBezTo>
                    <a:pt x="284" y="536"/>
                    <a:pt x="504" y="315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468;p85">
              <a:extLst>
                <a:ext uri="{FF2B5EF4-FFF2-40B4-BE49-F238E27FC236}">
                  <a16:creationId xmlns:a16="http://schemas.microsoft.com/office/drawing/2014/main" id="{A0F76EE9-4506-471F-AC08-7A965F140721}"/>
                </a:ext>
              </a:extLst>
            </p:cNvPr>
            <p:cNvSpPr/>
            <p:nvPr/>
          </p:nvSpPr>
          <p:spPr>
            <a:xfrm>
              <a:off x="-47417875" y="4061375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356" y="0"/>
                  </a:moveTo>
                  <a:cubicBezTo>
                    <a:pt x="1261" y="693"/>
                    <a:pt x="694" y="1260"/>
                    <a:pt x="1" y="1386"/>
                  </a:cubicBezTo>
                  <a:lnTo>
                    <a:pt x="1" y="2111"/>
                  </a:lnTo>
                  <a:lnTo>
                    <a:pt x="2112" y="2111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469;p85">
              <a:extLst>
                <a:ext uri="{FF2B5EF4-FFF2-40B4-BE49-F238E27FC236}">
                  <a16:creationId xmlns:a16="http://schemas.microsoft.com/office/drawing/2014/main" id="{126C3584-2963-49B2-8557-8FDCDBFE4169}"/>
                </a:ext>
              </a:extLst>
            </p:cNvPr>
            <p:cNvSpPr/>
            <p:nvPr/>
          </p:nvSpPr>
          <p:spPr>
            <a:xfrm>
              <a:off x="-47453300" y="40267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45"/>
                    <a:pt x="284" y="1891"/>
                    <a:pt x="693" y="2049"/>
                  </a:cubicBezTo>
                  <a:lnTo>
                    <a:pt x="693" y="1072"/>
                  </a:lnTo>
                  <a:cubicBezTo>
                    <a:pt x="693" y="883"/>
                    <a:pt x="851" y="725"/>
                    <a:pt x="1071" y="725"/>
                  </a:cubicBezTo>
                  <a:lnTo>
                    <a:pt x="2048" y="725"/>
                  </a:lnTo>
                  <a:cubicBezTo>
                    <a:pt x="1922" y="284"/>
                    <a:pt x="151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470;p85">
              <a:extLst>
                <a:ext uri="{FF2B5EF4-FFF2-40B4-BE49-F238E27FC236}">
                  <a16:creationId xmlns:a16="http://schemas.microsoft.com/office/drawing/2014/main" id="{2B3D9BD5-0308-4D3B-AC78-2837F4206DD3}"/>
                </a:ext>
              </a:extLst>
            </p:cNvPr>
            <p:cNvSpPr/>
            <p:nvPr/>
          </p:nvSpPr>
          <p:spPr>
            <a:xfrm>
              <a:off x="-47506875" y="3973950"/>
              <a:ext cx="264675" cy="174875"/>
            </a:xfrm>
            <a:custGeom>
              <a:avLst/>
              <a:gdLst/>
              <a:ahLst/>
              <a:cxnLst/>
              <a:rect l="l" t="t" r="r" b="b"/>
              <a:pathLst>
                <a:path w="10587" h="6995" extrusionOk="0">
                  <a:moveTo>
                    <a:pt x="8854" y="1418"/>
                  </a:moveTo>
                  <a:cubicBezTo>
                    <a:pt x="9074" y="1418"/>
                    <a:pt x="9232" y="1575"/>
                    <a:pt x="9232" y="1764"/>
                  </a:cubicBezTo>
                  <a:cubicBezTo>
                    <a:pt x="9232" y="1953"/>
                    <a:pt x="9074" y="2111"/>
                    <a:pt x="8854" y="2111"/>
                  </a:cubicBezTo>
                  <a:lnTo>
                    <a:pt x="7436" y="2111"/>
                  </a:lnTo>
                  <a:cubicBezTo>
                    <a:pt x="7247" y="2111"/>
                    <a:pt x="7089" y="1953"/>
                    <a:pt x="7089" y="1764"/>
                  </a:cubicBezTo>
                  <a:cubicBezTo>
                    <a:pt x="7089" y="1575"/>
                    <a:pt x="7247" y="1418"/>
                    <a:pt x="7436" y="1418"/>
                  </a:cubicBezTo>
                  <a:close/>
                  <a:moveTo>
                    <a:pt x="8854" y="2772"/>
                  </a:moveTo>
                  <a:cubicBezTo>
                    <a:pt x="9074" y="2772"/>
                    <a:pt x="9232" y="2930"/>
                    <a:pt x="9232" y="3151"/>
                  </a:cubicBezTo>
                  <a:cubicBezTo>
                    <a:pt x="9232" y="3340"/>
                    <a:pt x="9074" y="3497"/>
                    <a:pt x="8854" y="3497"/>
                  </a:cubicBezTo>
                  <a:lnTo>
                    <a:pt x="7436" y="3497"/>
                  </a:lnTo>
                  <a:cubicBezTo>
                    <a:pt x="7247" y="3497"/>
                    <a:pt x="7089" y="3340"/>
                    <a:pt x="7089" y="3151"/>
                  </a:cubicBezTo>
                  <a:cubicBezTo>
                    <a:pt x="7089" y="2930"/>
                    <a:pt x="7247" y="2772"/>
                    <a:pt x="7436" y="2772"/>
                  </a:cubicBezTo>
                  <a:close/>
                  <a:moveTo>
                    <a:pt x="8854" y="4190"/>
                  </a:moveTo>
                  <a:cubicBezTo>
                    <a:pt x="9074" y="4190"/>
                    <a:pt x="9232" y="4348"/>
                    <a:pt x="9232" y="4568"/>
                  </a:cubicBezTo>
                  <a:cubicBezTo>
                    <a:pt x="9232" y="4757"/>
                    <a:pt x="9074" y="4915"/>
                    <a:pt x="8854" y="4915"/>
                  </a:cubicBezTo>
                  <a:lnTo>
                    <a:pt x="7436" y="4915"/>
                  </a:lnTo>
                  <a:cubicBezTo>
                    <a:pt x="7247" y="4915"/>
                    <a:pt x="7089" y="4757"/>
                    <a:pt x="7089" y="4568"/>
                  </a:cubicBezTo>
                  <a:cubicBezTo>
                    <a:pt x="7089" y="4348"/>
                    <a:pt x="7247" y="4190"/>
                    <a:pt x="7436" y="4190"/>
                  </a:cubicBezTo>
                  <a:close/>
                  <a:moveTo>
                    <a:pt x="3246" y="1355"/>
                  </a:moveTo>
                  <a:cubicBezTo>
                    <a:pt x="4096" y="1355"/>
                    <a:pt x="4821" y="1953"/>
                    <a:pt x="4979" y="2772"/>
                  </a:cubicBezTo>
                  <a:lnTo>
                    <a:pt x="6081" y="2772"/>
                  </a:lnTo>
                  <a:cubicBezTo>
                    <a:pt x="6270" y="2772"/>
                    <a:pt x="6428" y="2930"/>
                    <a:pt x="6428" y="3151"/>
                  </a:cubicBezTo>
                  <a:lnTo>
                    <a:pt x="6428" y="5986"/>
                  </a:lnTo>
                  <a:lnTo>
                    <a:pt x="6396" y="5986"/>
                  </a:lnTo>
                  <a:cubicBezTo>
                    <a:pt x="6396" y="6175"/>
                    <a:pt x="6239" y="6333"/>
                    <a:pt x="6018" y="6333"/>
                  </a:cubicBezTo>
                  <a:lnTo>
                    <a:pt x="3246" y="6333"/>
                  </a:lnTo>
                  <a:cubicBezTo>
                    <a:pt x="3025" y="6333"/>
                    <a:pt x="2868" y="6175"/>
                    <a:pt x="2868" y="5986"/>
                  </a:cubicBezTo>
                  <a:lnTo>
                    <a:pt x="2868" y="4883"/>
                  </a:lnTo>
                  <a:cubicBezTo>
                    <a:pt x="2080" y="4726"/>
                    <a:pt x="1450" y="4001"/>
                    <a:pt x="1450" y="3151"/>
                  </a:cubicBezTo>
                  <a:cubicBezTo>
                    <a:pt x="1450" y="2142"/>
                    <a:pt x="2238" y="1355"/>
                    <a:pt x="3246" y="1355"/>
                  </a:cubicBezTo>
                  <a:close/>
                  <a:moveTo>
                    <a:pt x="8854" y="5608"/>
                  </a:moveTo>
                  <a:cubicBezTo>
                    <a:pt x="9074" y="5608"/>
                    <a:pt x="9232" y="5765"/>
                    <a:pt x="9232" y="5986"/>
                  </a:cubicBezTo>
                  <a:cubicBezTo>
                    <a:pt x="9232" y="6175"/>
                    <a:pt x="9074" y="6333"/>
                    <a:pt x="8854" y="6333"/>
                  </a:cubicBezTo>
                  <a:lnTo>
                    <a:pt x="7436" y="6333"/>
                  </a:lnTo>
                  <a:cubicBezTo>
                    <a:pt x="7247" y="6333"/>
                    <a:pt x="7089" y="6175"/>
                    <a:pt x="7089" y="5986"/>
                  </a:cubicBezTo>
                  <a:cubicBezTo>
                    <a:pt x="7089" y="5765"/>
                    <a:pt x="7247" y="5608"/>
                    <a:pt x="7436" y="5608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94"/>
                  </a:lnTo>
                  <a:lnTo>
                    <a:pt x="10586" y="6994"/>
                  </a:lnTo>
                  <a:lnTo>
                    <a:pt x="10586" y="347"/>
                  </a:lnTo>
                  <a:cubicBezTo>
                    <a:pt x="10586" y="158"/>
                    <a:pt x="10429" y="0"/>
                    <a:pt x="10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471;p85">
              <a:extLst>
                <a:ext uri="{FF2B5EF4-FFF2-40B4-BE49-F238E27FC236}">
                  <a16:creationId xmlns:a16="http://schemas.microsoft.com/office/drawing/2014/main" id="{294ABCD4-5889-4497-B159-A38E4C20FD49}"/>
                </a:ext>
              </a:extLst>
            </p:cNvPr>
            <p:cNvSpPr/>
            <p:nvPr/>
          </p:nvSpPr>
          <p:spPr>
            <a:xfrm>
              <a:off x="-47523400" y="4166900"/>
              <a:ext cx="300100" cy="35475"/>
            </a:xfrm>
            <a:custGeom>
              <a:avLst/>
              <a:gdLst/>
              <a:ahLst/>
              <a:cxnLst/>
              <a:rect l="l" t="t" r="r" b="b"/>
              <a:pathLst>
                <a:path w="12004" h="1419" extrusionOk="0">
                  <a:moveTo>
                    <a:pt x="0" y="1"/>
                  </a:move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11657" y="1418"/>
                  </a:lnTo>
                  <a:cubicBezTo>
                    <a:pt x="11846" y="1418"/>
                    <a:pt x="12004" y="1261"/>
                    <a:pt x="12004" y="1040"/>
                  </a:cubicBezTo>
                  <a:lnTo>
                    <a:pt x="1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7"/>
          <p:cNvSpPr txBox="1">
            <a:spLocks noGrp="1"/>
          </p:cNvSpPr>
          <p:nvPr>
            <p:ph type="title"/>
          </p:nvPr>
        </p:nvSpPr>
        <p:spPr>
          <a:xfrm>
            <a:off x="2200200" y="539500"/>
            <a:ext cx="4743600" cy="9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701" name="Google Shape;701;p67"/>
          <p:cNvSpPr txBox="1">
            <a:spLocks noGrp="1"/>
          </p:cNvSpPr>
          <p:nvPr>
            <p:ph type="subTitle" idx="2"/>
          </p:nvPr>
        </p:nvSpPr>
        <p:spPr>
          <a:xfrm>
            <a:off x="2336403" y="1762950"/>
            <a:ext cx="4471200" cy="5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DO YOU HAVE ANY QUESTIONS?</a:t>
            </a:r>
            <a:endParaRPr u="sng" dirty="0"/>
          </a:p>
        </p:txBody>
      </p:sp>
      <p:sp>
        <p:nvSpPr>
          <p:cNvPr id="703" name="Google Shape;703;p67"/>
          <p:cNvSpPr/>
          <p:nvPr/>
        </p:nvSpPr>
        <p:spPr>
          <a:xfrm>
            <a:off x="-2819337" y="-4341673"/>
            <a:ext cx="6291037" cy="12042362"/>
          </a:xfrm>
          <a:custGeom>
            <a:avLst/>
            <a:gdLst/>
            <a:ahLst/>
            <a:cxnLst/>
            <a:rect l="l" t="t" r="r" b="b"/>
            <a:pathLst>
              <a:path w="20177" h="38623" extrusionOk="0">
                <a:moveTo>
                  <a:pt x="8071" y="1"/>
                </a:moveTo>
                <a:cubicBezTo>
                  <a:pt x="7645" y="1"/>
                  <a:pt x="7319" y="327"/>
                  <a:pt x="7319" y="753"/>
                </a:cubicBezTo>
                <a:lnTo>
                  <a:pt x="7319" y="23033"/>
                </a:lnTo>
                <a:lnTo>
                  <a:pt x="753" y="35515"/>
                </a:lnTo>
                <a:cubicBezTo>
                  <a:pt x="1" y="36918"/>
                  <a:pt x="1028" y="38623"/>
                  <a:pt x="2632" y="38623"/>
                </a:cubicBezTo>
                <a:lnTo>
                  <a:pt x="17570" y="38623"/>
                </a:lnTo>
                <a:cubicBezTo>
                  <a:pt x="19149" y="38623"/>
                  <a:pt x="20176" y="36918"/>
                  <a:pt x="19449" y="35515"/>
                </a:cubicBezTo>
                <a:lnTo>
                  <a:pt x="12883" y="23033"/>
                </a:lnTo>
                <a:lnTo>
                  <a:pt x="12883" y="753"/>
                </a:lnTo>
                <a:cubicBezTo>
                  <a:pt x="12883" y="327"/>
                  <a:pt x="12532" y="1"/>
                  <a:pt x="1213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67"/>
          <p:cNvSpPr/>
          <p:nvPr/>
        </p:nvSpPr>
        <p:spPr>
          <a:xfrm flipH="1">
            <a:off x="6930550" y="-290275"/>
            <a:ext cx="4079904" cy="8167457"/>
          </a:xfrm>
          <a:custGeom>
            <a:avLst/>
            <a:gdLst/>
            <a:ahLst/>
            <a:cxnLst/>
            <a:rect l="l" t="t" r="r" b="b"/>
            <a:pathLst>
              <a:path w="13334" h="26693" extrusionOk="0">
                <a:moveTo>
                  <a:pt x="8898" y="5565"/>
                </a:moveTo>
                <a:cubicBezTo>
                  <a:pt x="9249" y="5565"/>
                  <a:pt x="9524" y="5840"/>
                  <a:pt x="9524" y="6191"/>
                </a:cubicBezTo>
                <a:cubicBezTo>
                  <a:pt x="9524" y="6542"/>
                  <a:pt x="9249" y="6818"/>
                  <a:pt x="8898" y="6818"/>
                </a:cubicBezTo>
                <a:lnTo>
                  <a:pt x="6116" y="6818"/>
                </a:lnTo>
                <a:cubicBezTo>
                  <a:pt x="5765" y="6818"/>
                  <a:pt x="5489" y="6542"/>
                  <a:pt x="5489" y="6191"/>
                </a:cubicBezTo>
                <a:cubicBezTo>
                  <a:pt x="5489" y="5840"/>
                  <a:pt x="5765" y="5565"/>
                  <a:pt x="6116" y="5565"/>
                </a:cubicBezTo>
                <a:close/>
                <a:moveTo>
                  <a:pt x="8898" y="8898"/>
                </a:moveTo>
                <a:cubicBezTo>
                  <a:pt x="9249" y="8898"/>
                  <a:pt x="9524" y="9174"/>
                  <a:pt x="9524" y="9525"/>
                </a:cubicBezTo>
                <a:cubicBezTo>
                  <a:pt x="9524" y="9850"/>
                  <a:pt x="9249" y="10151"/>
                  <a:pt x="8898" y="10151"/>
                </a:cubicBezTo>
                <a:lnTo>
                  <a:pt x="6116" y="10151"/>
                </a:lnTo>
                <a:cubicBezTo>
                  <a:pt x="5765" y="10151"/>
                  <a:pt x="5489" y="9850"/>
                  <a:pt x="5489" y="9525"/>
                </a:cubicBezTo>
                <a:cubicBezTo>
                  <a:pt x="5489" y="9174"/>
                  <a:pt x="5765" y="8898"/>
                  <a:pt x="6116" y="8898"/>
                </a:cubicBezTo>
                <a:close/>
                <a:moveTo>
                  <a:pt x="8898" y="12206"/>
                </a:moveTo>
                <a:cubicBezTo>
                  <a:pt x="9249" y="12206"/>
                  <a:pt x="9524" y="12507"/>
                  <a:pt x="9524" y="12833"/>
                </a:cubicBezTo>
                <a:cubicBezTo>
                  <a:pt x="9524" y="13184"/>
                  <a:pt x="9249" y="13460"/>
                  <a:pt x="8898" y="13460"/>
                </a:cubicBezTo>
                <a:lnTo>
                  <a:pt x="6116" y="13460"/>
                </a:lnTo>
                <a:cubicBezTo>
                  <a:pt x="5765" y="13460"/>
                  <a:pt x="5489" y="13184"/>
                  <a:pt x="5489" y="12833"/>
                </a:cubicBezTo>
                <a:cubicBezTo>
                  <a:pt x="5489" y="12507"/>
                  <a:pt x="5765" y="12206"/>
                  <a:pt x="6116" y="12206"/>
                </a:cubicBezTo>
                <a:close/>
                <a:moveTo>
                  <a:pt x="8898" y="15540"/>
                </a:moveTo>
                <a:cubicBezTo>
                  <a:pt x="9249" y="15540"/>
                  <a:pt x="9524" y="15815"/>
                  <a:pt x="9524" y="16166"/>
                </a:cubicBezTo>
                <a:cubicBezTo>
                  <a:pt x="9524" y="16517"/>
                  <a:pt x="9249" y="16793"/>
                  <a:pt x="8898" y="16793"/>
                </a:cubicBezTo>
                <a:lnTo>
                  <a:pt x="6116" y="16793"/>
                </a:lnTo>
                <a:cubicBezTo>
                  <a:pt x="5765" y="16793"/>
                  <a:pt x="5489" y="16517"/>
                  <a:pt x="5489" y="16166"/>
                </a:cubicBezTo>
                <a:cubicBezTo>
                  <a:pt x="5489" y="15815"/>
                  <a:pt x="5765" y="15540"/>
                  <a:pt x="6116" y="15540"/>
                </a:cubicBezTo>
                <a:close/>
                <a:moveTo>
                  <a:pt x="8898" y="18873"/>
                </a:moveTo>
                <a:cubicBezTo>
                  <a:pt x="9249" y="18873"/>
                  <a:pt x="9524" y="19149"/>
                  <a:pt x="9524" y="19500"/>
                </a:cubicBezTo>
                <a:cubicBezTo>
                  <a:pt x="9524" y="19851"/>
                  <a:pt x="9249" y="20126"/>
                  <a:pt x="8898" y="20126"/>
                </a:cubicBezTo>
                <a:lnTo>
                  <a:pt x="6116" y="20126"/>
                </a:lnTo>
                <a:cubicBezTo>
                  <a:pt x="5765" y="20126"/>
                  <a:pt x="5489" y="19851"/>
                  <a:pt x="5489" y="19500"/>
                </a:cubicBezTo>
                <a:cubicBezTo>
                  <a:pt x="5489" y="19149"/>
                  <a:pt x="5765" y="18873"/>
                  <a:pt x="6116" y="18873"/>
                </a:cubicBezTo>
                <a:close/>
                <a:moveTo>
                  <a:pt x="8898" y="22206"/>
                </a:moveTo>
                <a:cubicBezTo>
                  <a:pt x="9249" y="22206"/>
                  <a:pt x="9524" y="22482"/>
                  <a:pt x="9524" y="22833"/>
                </a:cubicBezTo>
                <a:cubicBezTo>
                  <a:pt x="9524" y="23184"/>
                  <a:pt x="9249" y="23460"/>
                  <a:pt x="8898" y="23460"/>
                </a:cubicBezTo>
                <a:lnTo>
                  <a:pt x="6116" y="23460"/>
                </a:lnTo>
                <a:cubicBezTo>
                  <a:pt x="5765" y="23460"/>
                  <a:pt x="5489" y="23184"/>
                  <a:pt x="5489" y="22833"/>
                </a:cubicBezTo>
                <a:cubicBezTo>
                  <a:pt x="5489" y="22482"/>
                  <a:pt x="5765" y="22206"/>
                  <a:pt x="6116" y="22206"/>
                </a:cubicBezTo>
                <a:close/>
                <a:moveTo>
                  <a:pt x="0" y="1"/>
                </a:moveTo>
                <a:lnTo>
                  <a:pt x="0" y="26693"/>
                </a:lnTo>
                <a:lnTo>
                  <a:pt x="11579" y="26693"/>
                </a:lnTo>
                <a:lnTo>
                  <a:pt x="11579" y="2432"/>
                </a:lnTo>
                <a:lnTo>
                  <a:pt x="13334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B6E3A-BD42-4E02-8D12-9367FDAF3275}"/>
              </a:ext>
            </a:extLst>
          </p:cNvPr>
          <p:cNvSpPr/>
          <p:nvPr/>
        </p:nvSpPr>
        <p:spPr>
          <a:xfrm>
            <a:off x="2200200" y="3425483"/>
            <a:ext cx="4819578" cy="12660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technology Company Profile by Slidesgo">
  <a:themeElements>
    <a:clrScheme name="Simple Light">
      <a:dk1>
        <a:srgbClr val="262722"/>
      </a:dk1>
      <a:lt1>
        <a:srgbClr val="CCEAFA"/>
      </a:lt1>
      <a:dk2>
        <a:srgbClr val="FFFFFF"/>
      </a:dk2>
      <a:lt2>
        <a:srgbClr val="FFFFFF"/>
      </a:lt2>
      <a:accent1>
        <a:srgbClr val="1DA677"/>
      </a:accent1>
      <a:accent2>
        <a:srgbClr val="3A8ABB"/>
      </a:accent2>
      <a:accent3>
        <a:srgbClr val="E096BE"/>
      </a:accent3>
      <a:accent4>
        <a:srgbClr val="FFFFFF"/>
      </a:accent4>
      <a:accent5>
        <a:srgbClr val="FFFFFF"/>
      </a:accent5>
      <a:accent6>
        <a:srgbClr val="FFFFFF"/>
      </a:accent6>
      <a:hlink>
        <a:srgbClr val="2627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313</Words>
  <Application>Microsoft Office PowerPoint</Application>
  <PresentationFormat>On-screen Show (16:9)</PresentationFormat>
  <Paragraphs>78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Courier New</vt:lpstr>
      <vt:lpstr>Arial</vt:lpstr>
      <vt:lpstr>Archivo Black</vt:lpstr>
      <vt:lpstr>Archivo</vt:lpstr>
      <vt:lpstr>Calibri</vt:lpstr>
      <vt:lpstr>Biotechnology Company Profile by Slidesgo</vt:lpstr>
      <vt:lpstr>Identification of Similar Differential Expression Genes between Schizophrenia and Autism Spectrum Disorder Patients</vt:lpstr>
      <vt:lpstr>Schizophrenia (SCZ)</vt:lpstr>
      <vt:lpstr>Autism Spectrum Disorder (ASD)</vt:lpstr>
      <vt:lpstr>PREVIOUS STUDIES</vt:lpstr>
      <vt:lpstr> Push the search for  schizophrenia mechanisms  using RNA-seq data and     autism spectrum disorder  differential gene expression  analysis</vt:lpstr>
      <vt:lpstr>AIMS</vt:lpstr>
      <vt:lpstr>METHODOLGY</vt:lpstr>
      <vt:lpstr>METHODOLGY</vt:lpstr>
      <vt:lpstr>PowerPoint Presentation</vt:lpstr>
      <vt:lpstr>CURRENT DATA</vt:lpstr>
      <vt:lpstr>SCZ QUALIY CONTROL (Test Read)</vt:lpstr>
      <vt:lpstr>SCZ/ASD QUALIY CONTROL </vt:lpstr>
      <vt:lpstr>TO-DO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Identification of Similar Differential Expression Genes between Schizophrenia and Autism Spectrum Disorder Patients</dc:title>
  <dc:creator>Keaton Banik</dc:creator>
  <cp:lastModifiedBy>Keaton Banik</cp:lastModifiedBy>
  <cp:revision>5</cp:revision>
  <dcterms:modified xsi:type="dcterms:W3CDTF">2022-04-07T19:39:32Z</dcterms:modified>
</cp:coreProperties>
</file>